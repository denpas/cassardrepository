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</ns0: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3335000" cy="7500000" type="screen16x9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ssar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</p:spTree>
  </p:cSld>
  <p:clrMap accent1="2474A6" accent2="E6A744" accent3="19375C" accent4="23835B" accent5="718096" accent6="6AA4C7" bg1="FFFFFF" bg2="F3F6F9" dk1="10233F" dk2="18283B" folHlink="7030A0" hlink="2474A6" lt1="FFFFFF" lt2="F3F6F9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Form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Forme"/>
          <p:cNvSpPr/>
          <p:nvPr/>
        </p:nvSpPr>
        <p:spPr>
          <a:xfrm>
            <a:off x="640080" y="640080"/>
            <a:ext cx="109728" cy="5440680"/>
          </a:xfrm>
          <a:prstGeom prst="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Forme"/>
          <p:cNvSpPr/>
          <p:nvPr/>
        </p:nvSpPr>
        <p:spPr>
          <a:xfrm>
            <a:off x="987552" y="640080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6" name="Texte"/>
          <p:cNvSpPr txBox="1"/>
          <p:nvPr/>
        </p:nvSpPr>
        <p:spPr>
          <a:xfrm>
            <a:off x="987552" y="640080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7" name="Texte"/>
          <p:cNvSpPr txBox="1"/>
          <p:nvPr/>
        </p:nvSpPr>
        <p:spPr>
          <a:xfrm>
            <a:off x="1508760" y="67665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200"/>
          </a:p>
        </p:txBody>
      </p:sp>
      <p:sp>
        <p:nvSpPr>
          <p:cNvPr id="8" name="Texte"/>
          <p:cNvSpPr txBox="1"/>
          <p:nvPr/>
        </p:nvSpPr>
        <p:spPr>
          <a:xfrm>
            <a:off x="1508760" y="905256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1024128" y="1901952"/>
            <a:ext cx="7498080" cy="58521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3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Dossier de commande</a:t>
            </a:r>
            <a:endParaRPr lang="fr-FR" sz="3500"/>
          </a:p>
        </p:txBody>
      </p:sp>
      <p:sp>
        <p:nvSpPr>
          <p:cNvPr id="10" name="Texte"/>
          <p:cNvSpPr txBox="1"/>
          <p:nvPr/>
        </p:nvSpPr>
        <p:spPr>
          <a:xfrm>
            <a:off x="1051560" y="2706624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000" b="0">
                <a:solidFill>
                  <a:srgbClr val="C7D7E7"/>
                </a:solidFill>
                <a:latin typeface="Aptos"/>
                <a:ea typeface="Aptos"/>
                <a:cs typeface="Aptos"/>
              </a:rPr>
              <a:t xml:space="preserve">Architecture · interfaces · protocole</a:t>
            </a:r>
            <a:endParaRPr lang="fr-FR" sz="2000"/>
          </a:p>
        </p:txBody>
      </p:sp>
      <p:sp>
        <p:nvSpPr>
          <p:cNvPr id="11" name="Texte"/>
          <p:cNvSpPr txBox="1"/>
          <p:nvPr/>
        </p:nvSpPr>
        <p:spPr>
          <a:xfrm>
            <a:off x="1051560" y="3346704"/>
            <a:ext cx="6675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0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Une console de pilotage embarquée, conçue autour</a:t>
            </a:r>
            <a:endParaRPr lang="fr-FR" sz="1300"/>
          </a:p>
          <a:p>
            <a:pPr algn="l" marL="0" indent="0"/>
            <a:r>
              <a:rPr lang="fr-FR" sz="1300" b="0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d'un contrôle clair et d'une architecture modulaire.</a:t>
            </a:r>
            <a:endParaRPr lang="fr-FR" sz="1300"/>
          </a:p>
        </p:txBody>
      </p:sp>
      <p:sp>
        <p:nvSpPr>
          <p:cNvPr id="12" name="Forme"/>
          <p:cNvSpPr/>
          <p:nvPr/>
        </p:nvSpPr>
        <p:spPr>
          <a:xfrm>
            <a:off x="1051560" y="4645152"/>
            <a:ext cx="2212848" cy="402336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13" name="Texte"/>
          <p:cNvSpPr txBox="1"/>
          <p:nvPr/>
        </p:nvSpPr>
        <p:spPr>
          <a:xfrm>
            <a:off x="1161288" y="47548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9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RÉVISION 2.0  ·  OCTOBRE 2026</a:t>
            </a:r>
            <a:endParaRPr lang="fr-FR" sz="900"/>
          </a:p>
        </p:txBody>
      </p:sp>
      <p:sp>
        <p:nvSpPr>
          <p:cNvPr id="14" name="Texte"/>
          <p:cNvSpPr txBox="1"/>
          <p:nvPr/>
        </p:nvSpPr>
        <p:spPr>
          <a:xfrm>
            <a:off x="1051560" y="60167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PROPULSION  /  DIRECTION  /  TOURELLE  /  SUPERVISION</a:t>
            </a:r>
            <a:endParaRPr lang="fr-FR" sz="800"/>
          </a:p>
        </p:txBody>
      </p:sp>
      <p:sp>
        <p:nvSpPr>
          <p:cNvPr id="15" name="Forme"/>
          <p:cNvSpPr/>
          <p:nvPr/>
        </p:nvSpPr>
        <p:spPr>
          <a:xfrm>
            <a:off x="8961120" y="2148840"/>
            <a:ext cx="2148840" cy="73152"/>
          </a:xfrm>
          <a:prstGeom prst="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16" name="Forme"/>
          <p:cNvSpPr/>
          <p:nvPr/>
        </p:nvSpPr>
        <p:spPr>
          <a:xfrm>
            <a:off x="9372600" y="2240280"/>
            <a:ext cx="1371600" cy="73152"/>
          </a:xfrm>
          <a:prstGeom prst="rect">
            <a:avLst/>
          </a:prstGeom>
          <a:solidFill>
            <a:srgbClr val="7AA1BD"/>
          </a:solidFill>
          <a:ln>
            <a:noFill/>
          </a:ln>
        </p:spPr>
      </p:sp>
      <p:sp>
        <p:nvSpPr>
          <p:cNvPr id="17" name="Forme"/>
          <p:cNvSpPr/>
          <p:nvPr/>
        </p:nvSpPr>
        <p:spPr>
          <a:xfrm>
            <a:off x="9656064" y="2340864"/>
            <a:ext cx="841248" cy="73152"/>
          </a:xfrm>
          <a:prstGeom prst="rect">
            <a:avLst/>
          </a:prstGeom>
          <a:solidFill>
            <a:srgbClr val="7AA1BD"/>
          </a:solidFill>
          <a:ln>
            <a:noFill/>
          </a:ln>
        </p:spPr>
      </p:sp>
      <p:sp>
        <p:nvSpPr>
          <p:cNvPr id="18" name="Forme"/>
          <p:cNvSpPr/>
          <p:nvPr/>
        </p:nvSpPr>
        <p:spPr>
          <a:xfrm>
            <a:off x="9930384" y="2432304"/>
            <a:ext cx="329184" cy="73152"/>
          </a:xfrm>
          <a:prstGeom prst="rect">
            <a:avLst/>
          </a:prstGeom>
          <a:solidFill>
            <a:srgbClr val="7AA1BD"/>
          </a:solidFill>
          <a:ln>
            <a:noFill/>
          </a:ln>
        </p:spPr>
      </p:sp>
      <p:sp>
        <p:nvSpPr>
          <p:cNvPr id="19" name="Forme"/>
          <p:cNvSpPr/>
          <p:nvPr/>
        </p:nvSpPr>
        <p:spPr>
          <a:xfrm>
            <a:off x="8732520" y="2212848"/>
            <a:ext cx="384048" cy="256032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20" name="Forme"/>
          <p:cNvSpPr/>
          <p:nvPr/>
        </p:nvSpPr>
        <p:spPr>
          <a:xfrm>
            <a:off x="9372600" y="1865376"/>
            <a:ext cx="310896" cy="265176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21" name="Forme"/>
          <p:cNvSpPr/>
          <p:nvPr/>
        </p:nvSpPr>
        <p:spPr>
          <a:xfrm>
            <a:off x="9482328" y="1618488"/>
            <a:ext cx="73152" cy="320040"/>
          </a:xfrm>
          <a:prstGeom prst="rect">
            <a:avLst/>
          </a:prstGeom>
          <a:solidFill>
            <a:srgbClr val="B9C9DA"/>
          </a:solidFill>
          <a:ln>
            <a:noFill/>
          </a:ln>
        </p:spPr>
      </p:sp>
      <p:sp>
        <p:nvSpPr>
          <p:cNvPr id="22" name="Forme"/>
          <p:cNvSpPr/>
          <p:nvPr/>
        </p:nvSpPr>
        <p:spPr>
          <a:xfrm>
            <a:off x="8321040" y="4754880"/>
            <a:ext cx="32004" cy="1097280"/>
          </a:xfrm>
          <a:prstGeom prst="rect">
            <a:avLst/>
          </a:prstGeom>
          <a:solidFill>
            <a:srgbClr val="294769"/>
          </a:solidFill>
          <a:ln>
            <a:noFill/>
          </a:ln>
        </p:spPr>
      </p:sp>
      <p:sp>
        <p:nvSpPr>
          <p:cNvPr id="23" name="Forme"/>
          <p:cNvSpPr/>
          <p:nvPr/>
        </p:nvSpPr>
        <p:spPr>
          <a:xfrm>
            <a:off x="8887968" y="4754880"/>
            <a:ext cx="32004" cy="1097280"/>
          </a:xfrm>
          <a:prstGeom prst="rect">
            <a:avLst/>
          </a:prstGeom>
          <a:solidFill>
            <a:srgbClr val="294769"/>
          </a:solidFill>
          <a:ln>
            <a:noFill/>
          </a:ln>
        </p:spPr>
      </p:sp>
      <p:sp>
        <p:nvSpPr>
          <p:cNvPr id="24" name="Forme"/>
          <p:cNvSpPr/>
          <p:nvPr/>
        </p:nvSpPr>
        <p:spPr>
          <a:xfrm>
            <a:off x="9454896" y="4754880"/>
            <a:ext cx="32004" cy="1097280"/>
          </a:xfrm>
          <a:prstGeom prst="rect">
            <a:avLst/>
          </a:prstGeom>
          <a:solidFill>
            <a:srgbClr val="294769"/>
          </a:solidFill>
          <a:ln>
            <a:noFill/>
          </a:ln>
        </p:spPr>
      </p:sp>
      <p:sp>
        <p:nvSpPr>
          <p:cNvPr id="25" name="Forme"/>
          <p:cNvSpPr/>
          <p:nvPr/>
        </p:nvSpPr>
        <p:spPr>
          <a:xfrm>
            <a:off x="10021824" y="4754880"/>
            <a:ext cx="32004" cy="1097280"/>
          </a:xfrm>
          <a:prstGeom prst="rect">
            <a:avLst/>
          </a:prstGeom>
          <a:solidFill>
            <a:srgbClr val="294769"/>
          </a:solidFill>
          <a:ln>
            <a:noFill/>
          </a:ln>
        </p:spPr>
      </p:sp>
      <p:sp>
        <p:nvSpPr>
          <p:cNvPr id="26" name="Forme"/>
          <p:cNvSpPr/>
          <p:nvPr/>
        </p:nvSpPr>
        <p:spPr>
          <a:xfrm>
            <a:off x="10588752" y="4754880"/>
            <a:ext cx="32004" cy="1097280"/>
          </a:xfrm>
          <a:prstGeom prst="rect">
            <a:avLst/>
          </a:prstGeom>
          <a:solidFill>
            <a:srgbClr val="294769"/>
          </a:solidFill>
          <a:ln>
            <a:noFill/>
          </a:ln>
        </p:spPr>
      </p:sp>
      <p:sp>
        <p:nvSpPr>
          <p:cNvPr id="27" name="Texte"/>
          <p:cNvSpPr txBox="1"/>
          <p:nvPr/>
        </p:nvSpPr>
        <p:spPr>
          <a:xfrm>
            <a:off x="8366760" y="5989320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DOCUMENTATION TECHNIQUE</a:t>
            </a:r>
            <a:endParaRPr lang="fr-FR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VUE D'ENSEMBLE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Un pilotage modulaire, une commande unifiée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02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2200046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Panneau"/>
          <p:cNvSpPr/>
          <p:nvPr/>
        </p:nvSpPr>
        <p:spPr>
          <a:xfrm>
            <a:off x="603504" y="1627632"/>
            <a:ext cx="2578608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5" name="Texte"/>
          <p:cNvSpPr txBox="1"/>
          <p:nvPr/>
        </p:nvSpPr>
        <p:spPr>
          <a:xfrm>
            <a:off x="786384" y="1792224"/>
            <a:ext cx="65836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31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fr-FR" sz="3100"/>
          </a:p>
        </p:txBody>
      </p:sp>
      <p:sp>
        <p:nvSpPr>
          <p:cNvPr id="16" name="Texte"/>
          <p:cNvSpPr txBox="1"/>
          <p:nvPr/>
        </p:nvSpPr>
        <p:spPr>
          <a:xfrm>
            <a:off x="1453896" y="184708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cartes</a:t>
            </a:r>
            <a:endParaRPr lang="fr-FR" sz="1300"/>
          </a:p>
        </p:txBody>
      </p:sp>
      <p:sp>
        <p:nvSpPr>
          <p:cNvPr id="17" name="Texte"/>
          <p:cNvSpPr txBox="1"/>
          <p:nvPr/>
        </p:nvSpPr>
        <p:spPr>
          <a:xfrm>
            <a:off x="1453896" y="2185416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Un contrôleur central et deux modules dédiés</a:t>
            </a:r>
            <a:endParaRPr lang="fr-FR" sz="900"/>
          </a:p>
        </p:txBody>
      </p:sp>
      <p:sp>
        <p:nvSpPr>
          <p:cNvPr id="18" name="Panneau"/>
          <p:cNvSpPr/>
          <p:nvPr/>
        </p:nvSpPr>
        <p:spPr>
          <a:xfrm>
            <a:off x="3383280" y="1627632"/>
            <a:ext cx="2578608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9" name="Texte"/>
          <p:cNvSpPr txBox="1"/>
          <p:nvPr/>
        </p:nvSpPr>
        <p:spPr>
          <a:xfrm>
            <a:off x="3566160" y="1792224"/>
            <a:ext cx="65836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31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3100"/>
          </a:p>
        </p:txBody>
      </p:sp>
      <p:sp>
        <p:nvSpPr>
          <p:cNvPr id="20" name="Texte"/>
          <p:cNvSpPr txBox="1"/>
          <p:nvPr/>
        </p:nvSpPr>
        <p:spPr>
          <a:xfrm>
            <a:off x="4233672" y="184708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esclaves I²C</a:t>
            </a:r>
            <a:endParaRPr lang="fr-FR" sz="1300"/>
          </a:p>
        </p:txBody>
      </p:sp>
      <p:sp>
        <p:nvSpPr>
          <p:cNvPr id="21" name="Texte"/>
          <p:cNvSpPr txBox="1"/>
          <p:nvPr/>
        </p:nvSpPr>
        <p:spPr>
          <a:xfrm>
            <a:off x="4233672" y="2185416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Propulsion (2) et tourelle (1)</a:t>
            </a:r>
            <a:endParaRPr lang="fr-FR" sz="900"/>
          </a:p>
        </p:txBody>
      </p:sp>
      <p:sp>
        <p:nvSpPr>
          <p:cNvPr id="22" name="Panneau"/>
          <p:cNvSpPr/>
          <p:nvPr/>
        </p:nvSpPr>
        <p:spPr>
          <a:xfrm>
            <a:off x="6163056" y="1627632"/>
            <a:ext cx="2578608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3" name="Texte"/>
          <p:cNvSpPr txBox="1"/>
          <p:nvPr/>
        </p:nvSpPr>
        <p:spPr>
          <a:xfrm>
            <a:off x="6345936" y="1792224"/>
            <a:ext cx="65836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31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7</a:t>
            </a:r>
            <a:endParaRPr lang="fr-FR" sz="3100"/>
          </a:p>
        </p:txBody>
      </p:sp>
      <p:sp>
        <p:nvSpPr>
          <p:cNvPr id="24" name="Texte"/>
          <p:cNvSpPr txBox="1"/>
          <p:nvPr/>
        </p:nvSpPr>
        <p:spPr>
          <a:xfrm>
            <a:off x="7013448" y="184708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écrans</a:t>
            </a:r>
            <a:endParaRPr lang="fr-FR" sz="1300"/>
          </a:p>
        </p:txBody>
      </p:sp>
      <p:sp>
        <p:nvSpPr>
          <p:cNvPr id="25" name="Texte"/>
          <p:cNvSpPr txBox="1"/>
          <p:nvPr/>
        </p:nvSpPr>
        <p:spPr>
          <a:xfrm>
            <a:off x="7013448" y="2185416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De la connexion à la console de diagnostic</a:t>
            </a:r>
            <a:endParaRPr lang="fr-FR" sz="900"/>
          </a:p>
        </p:txBody>
      </p:sp>
      <p:sp>
        <p:nvSpPr>
          <p:cNvPr id="26" name="Panneau"/>
          <p:cNvSpPr/>
          <p:nvPr/>
        </p:nvSpPr>
        <p:spPr>
          <a:xfrm>
            <a:off x="8942832" y="1627632"/>
            <a:ext cx="2578608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7" name="Texte"/>
          <p:cNvSpPr txBox="1"/>
          <p:nvPr/>
        </p:nvSpPr>
        <p:spPr>
          <a:xfrm>
            <a:off x="9125712" y="1792224"/>
            <a:ext cx="65836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31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0</a:t>
            </a:r>
            <a:endParaRPr lang="fr-FR" sz="3100"/>
          </a:p>
        </p:txBody>
      </p:sp>
      <p:sp>
        <p:nvSpPr>
          <p:cNvPr id="28" name="Texte"/>
          <p:cNvSpPr txBox="1"/>
          <p:nvPr/>
        </p:nvSpPr>
        <p:spPr>
          <a:xfrm>
            <a:off x="9793224" y="184708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télémétrie</a:t>
            </a:r>
            <a:endParaRPr lang="fr-FR" sz="1300"/>
          </a:p>
        </p:txBody>
      </p:sp>
      <p:sp>
        <p:nvSpPr>
          <p:cNvPr id="29" name="Texte"/>
          <p:cNvSpPr txBox="1"/>
          <p:nvPr/>
        </p:nvSpPr>
        <p:spPr>
          <a:xfrm>
            <a:off x="9793224" y="2185416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Pas de retour de mesures des modules à l'interface</a:t>
            </a:r>
            <a:endParaRPr lang="fr-FR" sz="900"/>
          </a:p>
        </p:txBody>
      </p:sp>
      <p:sp>
        <p:nvSpPr>
          <p:cNvPr id="30" name="Panneau"/>
          <p:cNvSpPr/>
          <p:nvPr/>
        </p:nvSpPr>
        <p:spPr>
          <a:xfrm>
            <a:off x="603504" y="3054096"/>
            <a:ext cx="7004304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1" name="Texte"/>
          <p:cNvSpPr txBox="1"/>
          <p:nvPr/>
        </p:nvSpPr>
        <p:spPr>
          <a:xfrm>
            <a:off x="832104" y="326440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CHAÎNE DE COMMANDE</a:t>
            </a:r>
            <a:endParaRPr lang="fr-FR" sz="800"/>
          </a:p>
        </p:txBody>
      </p:sp>
      <p:sp>
        <p:nvSpPr>
          <p:cNvPr id="32" name="Panneau"/>
          <p:cNvSpPr/>
          <p:nvPr/>
        </p:nvSpPr>
        <p:spPr>
          <a:xfrm>
            <a:off x="877824" y="3794760"/>
            <a:ext cx="1591056" cy="80467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D5E5EF"/>
            </a:solidFill>
          </a:ln>
        </p:spPr>
      </p:sp>
      <p:sp>
        <p:nvSpPr>
          <p:cNvPr id="33" name="Texte"/>
          <p:cNvSpPr txBox="1"/>
          <p:nvPr/>
        </p:nvSpPr>
        <p:spPr>
          <a:xfrm>
            <a:off x="978408" y="3931920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OPÉRATEUR</a:t>
            </a:r>
            <a:endParaRPr lang="fr-FR" sz="800"/>
          </a:p>
        </p:txBody>
      </p:sp>
      <p:sp>
        <p:nvSpPr>
          <p:cNvPr id="34" name="Texte"/>
          <p:cNvSpPr txBox="1"/>
          <p:nvPr/>
        </p:nvSpPr>
        <p:spPr>
          <a:xfrm>
            <a:off x="978408" y="41970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Navigateur</a:t>
            </a:r>
            <a:endParaRPr lang="fr-FR" sz="1100"/>
          </a:p>
        </p:txBody>
      </p:sp>
      <p:sp>
        <p:nvSpPr>
          <p:cNvPr id="35" name="Panneau"/>
          <p:cNvSpPr/>
          <p:nvPr/>
        </p:nvSpPr>
        <p:spPr>
          <a:xfrm>
            <a:off x="2816352" y="3794760"/>
            <a:ext cx="1591056" cy="80467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D5E5EF"/>
            </a:solidFill>
          </a:ln>
        </p:spPr>
      </p:sp>
      <p:sp>
        <p:nvSpPr>
          <p:cNvPr id="36" name="Texte"/>
          <p:cNvSpPr txBox="1"/>
          <p:nvPr/>
        </p:nvSpPr>
        <p:spPr>
          <a:xfrm>
            <a:off x="2916936" y="3931920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CENTRAL</a:t>
            </a:r>
            <a:endParaRPr lang="fr-FR" sz="800"/>
          </a:p>
        </p:txBody>
      </p:sp>
      <p:sp>
        <p:nvSpPr>
          <p:cNvPr id="37" name="Texte"/>
          <p:cNvSpPr txBox="1"/>
          <p:nvPr/>
        </p:nvSpPr>
        <p:spPr>
          <a:xfrm>
            <a:off x="2916936" y="41970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PHPoC + Uno</a:t>
            </a:r>
            <a:endParaRPr lang="fr-FR" sz="1100"/>
          </a:p>
        </p:txBody>
      </p:sp>
      <p:sp>
        <p:nvSpPr>
          <p:cNvPr id="38" name="Panneau"/>
          <p:cNvSpPr/>
          <p:nvPr/>
        </p:nvSpPr>
        <p:spPr>
          <a:xfrm>
            <a:off x="5330952" y="3794760"/>
            <a:ext cx="1591056" cy="80467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D5E5EF"/>
            </a:solidFill>
          </a:ln>
        </p:spPr>
      </p:sp>
      <p:sp>
        <p:nvSpPr>
          <p:cNvPr id="39" name="Texte"/>
          <p:cNvSpPr txBox="1"/>
          <p:nvPr/>
        </p:nvSpPr>
        <p:spPr>
          <a:xfrm>
            <a:off x="5431536" y="3931920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BUS I²C</a:t>
            </a:r>
            <a:endParaRPr lang="fr-FR" sz="800"/>
          </a:p>
        </p:txBody>
      </p:sp>
      <p:sp>
        <p:nvSpPr>
          <p:cNvPr id="40" name="Texte"/>
          <p:cNvSpPr txBox="1"/>
          <p:nvPr/>
        </p:nvSpPr>
        <p:spPr>
          <a:xfrm>
            <a:off x="5431536" y="41970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Routage adressé</a:t>
            </a:r>
            <a:endParaRPr lang="fr-FR" sz="1100"/>
          </a:p>
        </p:txBody>
      </p:sp>
      <p:sp>
        <p:nvSpPr>
          <p:cNvPr id="41" name="Texte"/>
          <p:cNvSpPr txBox="1"/>
          <p:nvPr/>
        </p:nvSpPr>
        <p:spPr>
          <a:xfrm>
            <a:off x="2532888" y="4041648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19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fr-FR" sz="1900"/>
          </a:p>
        </p:txBody>
      </p:sp>
      <p:sp>
        <p:nvSpPr>
          <p:cNvPr id="42" name="Texte"/>
          <p:cNvSpPr txBox="1"/>
          <p:nvPr/>
        </p:nvSpPr>
        <p:spPr>
          <a:xfrm>
            <a:off x="4608576" y="4041648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19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fr-FR" sz="1900"/>
          </a:p>
        </p:txBody>
      </p:sp>
      <p:sp>
        <p:nvSpPr>
          <p:cNvPr id="43" name="Texte"/>
          <p:cNvSpPr txBox="1"/>
          <p:nvPr/>
        </p:nvSpPr>
        <p:spPr>
          <a:xfrm>
            <a:off x="932688" y="4892040"/>
            <a:ext cx="6309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WebSocket text.phpoc</a:t>
            </a:r>
            <a:endParaRPr lang="fr-FR" sz="1000"/>
          </a:p>
          <a:p>
            <a:pPr algn="ctr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Trames validées puis transmises au module destinataire</a:t>
            </a:r>
            <a:endParaRPr lang="fr-FR" sz="1000"/>
          </a:p>
        </p:txBody>
      </p:sp>
      <p:sp>
        <p:nvSpPr>
          <p:cNvPr id="44" name="Panneau"/>
          <p:cNvSpPr/>
          <p:nvPr/>
        </p:nvSpPr>
        <p:spPr>
          <a:xfrm>
            <a:off x="7845552" y="3054096"/>
            <a:ext cx="3749040" cy="267004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0233F"/>
            </a:solidFill>
          </a:ln>
        </p:spPr>
      </p:sp>
      <p:sp>
        <p:nvSpPr>
          <p:cNvPr id="45" name="Texte"/>
          <p:cNvSpPr txBox="1"/>
          <p:nvPr/>
        </p:nvSpPr>
        <p:spPr>
          <a:xfrm>
            <a:off x="8138160" y="331012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PÉRIMÈTRE DE CETTE VERSION</a:t>
            </a:r>
            <a:endParaRPr lang="fr-FR" sz="800"/>
          </a:p>
        </p:txBody>
      </p:sp>
      <p:sp>
        <p:nvSpPr>
          <p:cNvPr id="46" name="Texte"/>
          <p:cNvSpPr txBox="1"/>
          <p:nvPr/>
        </p:nvSpPr>
        <p:spPr>
          <a:xfrm>
            <a:off x="8138160" y="3721608"/>
            <a:ext cx="3090672" cy="1417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Pilotage moteur et gouvernail</a:t>
            </a:r>
            <a:endParaRPr lang="fr-FR" sz="1200"/>
          </a:p>
          <a:p>
            <a:pPr algn="l" marL="0" indent="0"/>
            <a:r>
              <a:rPr lang="fr-FR"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Commande des axes de tourelle</a:t>
            </a:r>
            <a:endParaRPr lang="fr-FR" sz="1200"/>
          </a:p>
          <a:p>
            <a:pPr algn="l" marL="0" indent="0"/>
            <a:r>
              <a:rPr lang="fr-FR"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Console de diagnostic</a:t>
            </a:r>
            <a:endParaRPr lang="fr-FR" sz="1200"/>
          </a:p>
          <a:p>
            <a:pPr algn="l" marL="0" indent="0"/>
            <a:r>
              <a:rPr lang="fr-FR"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Interface web responsive</a:t>
            </a:r>
            <a:endParaRPr lang="fr-FR" sz="1200"/>
          </a:p>
        </p:txBody>
      </p:sp>
      <p:sp>
        <p:nvSpPr>
          <p:cNvPr id="47" name="Texte"/>
          <p:cNvSpPr txBox="1"/>
          <p:nvPr/>
        </p:nvSpPr>
        <p:spPr>
          <a:xfrm>
            <a:off x="8138160" y="521208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E9C98A"/>
                </a:solidFill>
                <a:latin typeface="Aptos"/>
                <a:ea typeface="Aptos"/>
                <a:cs typeface="Aptos"/>
              </a:rPr>
              <a:t xml:space="preserve">Sons/lumières : commandes non implémentées</a:t>
            </a:r>
            <a:endParaRPr lang="fr-FR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SYSTÈME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Architecture technique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03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3300070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Texte"/>
          <p:cNvSpPr txBox="1"/>
          <p:nvPr/>
        </p:nvSpPr>
        <p:spPr>
          <a:xfrm>
            <a:off x="621792" y="142646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2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Les trames du navigateur sont validées par le central, puis routées vers le module I²C concerné.</a:t>
            </a:r>
            <a:endParaRPr lang="fr-FR" sz="1200"/>
          </a:p>
        </p:txBody>
      </p:sp>
      <p:sp>
        <p:nvSpPr>
          <p:cNvPr id="15" name="Panneau"/>
          <p:cNvSpPr/>
          <p:nvPr/>
        </p:nvSpPr>
        <p:spPr>
          <a:xfrm>
            <a:off x="658368" y="2130552"/>
            <a:ext cx="234086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6" name="Texte"/>
          <p:cNvSpPr txBox="1"/>
          <p:nvPr/>
        </p:nvSpPr>
        <p:spPr>
          <a:xfrm>
            <a:off x="877824" y="238658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01 · INTERFACE</a:t>
            </a:r>
            <a:endParaRPr lang="fr-FR" sz="800"/>
          </a:p>
        </p:txBody>
      </p:sp>
      <p:sp>
        <p:nvSpPr>
          <p:cNvPr id="17" name="Texte"/>
          <p:cNvSpPr txBox="1"/>
          <p:nvPr/>
        </p:nvSpPr>
        <p:spPr>
          <a:xfrm>
            <a:off x="877824" y="2706624"/>
            <a:ext cx="1874520" cy="55778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Console web</a:t>
            </a:r>
            <a:endParaRPr lang="fr-FR" sz="1700"/>
          </a:p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PHP / HTML / CSS / JS</a:t>
            </a:r>
            <a:endParaRPr lang="fr-FR" sz="1700"/>
          </a:p>
        </p:txBody>
      </p:sp>
      <p:sp>
        <p:nvSpPr>
          <p:cNvPr id="18" name="Texte"/>
          <p:cNvSpPr txBox="1"/>
          <p:nvPr/>
        </p:nvSpPr>
        <p:spPr>
          <a:xfrm>
            <a:off x="877824" y="347472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WebSocket</a:t>
            </a:r>
            <a:endParaRPr lang="fr-FR" sz="1000"/>
          </a:p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/_Cassard · text.phpoc</a:t>
            </a:r>
            <a:endParaRPr lang="fr-FR" sz="1000"/>
          </a:p>
        </p:txBody>
      </p:sp>
      <p:sp>
        <p:nvSpPr>
          <p:cNvPr id="19" name="Panneau"/>
          <p:cNvSpPr/>
          <p:nvPr/>
        </p:nvSpPr>
        <p:spPr>
          <a:xfrm>
            <a:off x="3730752" y="1947672"/>
            <a:ext cx="2871216" cy="2359152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0233F"/>
            </a:solidFill>
          </a:ln>
        </p:spPr>
      </p:sp>
      <p:sp>
        <p:nvSpPr>
          <p:cNvPr id="20" name="Texte"/>
          <p:cNvSpPr txBox="1"/>
          <p:nvPr/>
        </p:nvSpPr>
        <p:spPr>
          <a:xfrm>
            <a:off x="4014216" y="226771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02 · NŒUD CENTRAL</a:t>
            </a:r>
            <a:endParaRPr lang="fr-FR" sz="800"/>
          </a:p>
        </p:txBody>
      </p:sp>
      <p:sp>
        <p:nvSpPr>
          <p:cNvPr id="21" name="Texte"/>
          <p:cNvSpPr txBox="1"/>
          <p:nvPr/>
        </p:nvSpPr>
        <p:spPr>
          <a:xfrm>
            <a:off x="4014216" y="2679192"/>
            <a:ext cx="234086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PHPoC + Arduino Uno</a:t>
            </a:r>
            <a:endParaRPr lang="fr-FR" sz="1900"/>
          </a:p>
        </p:txBody>
      </p:sp>
      <p:sp>
        <p:nvSpPr>
          <p:cNvPr id="22" name="Texte"/>
          <p:cNvSpPr txBox="1"/>
          <p:nvPr/>
        </p:nvSpPr>
        <p:spPr>
          <a:xfrm>
            <a:off x="4014216" y="3520440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0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Parse · valide · convertit</a:t>
            </a:r>
            <a:endParaRPr lang="fr-FR" sz="1100"/>
          </a:p>
          <a:p>
            <a:pPr algn="l" marL="0" indent="0"/>
            <a:r>
              <a:rPr lang="fr-FR" sz="1100" b="0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et route les commandes</a:t>
            </a:r>
            <a:endParaRPr lang="fr-FR" sz="1100"/>
          </a:p>
        </p:txBody>
      </p:sp>
      <p:sp>
        <p:nvSpPr>
          <p:cNvPr id="23" name="Panneau"/>
          <p:cNvSpPr/>
          <p:nvPr/>
        </p:nvSpPr>
        <p:spPr>
          <a:xfrm>
            <a:off x="7379208" y="2029968"/>
            <a:ext cx="4096512" cy="75895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D5E5EF"/>
            </a:solidFill>
          </a:ln>
        </p:spPr>
      </p:sp>
      <p:sp>
        <p:nvSpPr>
          <p:cNvPr id="24" name="Texte"/>
          <p:cNvSpPr txBox="1"/>
          <p:nvPr/>
        </p:nvSpPr>
        <p:spPr>
          <a:xfrm>
            <a:off x="7626096" y="2185416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03 · I²C  ADRESSE 2</a:t>
            </a:r>
            <a:endParaRPr lang="fr-FR" sz="800"/>
          </a:p>
        </p:txBody>
      </p:sp>
      <p:sp>
        <p:nvSpPr>
          <p:cNvPr id="25" name="Texte"/>
          <p:cNvSpPr txBox="1"/>
          <p:nvPr/>
        </p:nvSpPr>
        <p:spPr>
          <a:xfrm>
            <a:off x="7626096" y="2395728"/>
            <a:ext cx="3602736" cy="26517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Module propulsion · deux moteurs + direction</a:t>
            </a:r>
            <a:endParaRPr lang="fr-FR" sz="1100"/>
          </a:p>
        </p:txBody>
      </p:sp>
      <p:sp>
        <p:nvSpPr>
          <p:cNvPr id="26" name="Panneau"/>
          <p:cNvSpPr/>
          <p:nvPr/>
        </p:nvSpPr>
        <p:spPr>
          <a:xfrm>
            <a:off x="7379208" y="3081528"/>
            <a:ext cx="4096512" cy="75895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D5E5EF"/>
            </a:solidFill>
          </a:ln>
        </p:spPr>
      </p:sp>
      <p:sp>
        <p:nvSpPr>
          <p:cNvPr id="27" name="Texte"/>
          <p:cNvSpPr txBox="1"/>
          <p:nvPr/>
        </p:nvSpPr>
        <p:spPr>
          <a:xfrm>
            <a:off x="7626096" y="3236976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03 · I²C  ADRESSE 1</a:t>
            </a:r>
            <a:endParaRPr lang="fr-FR" sz="800"/>
          </a:p>
        </p:txBody>
      </p:sp>
      <p:sp>
        <p:nvSpPr>
          <p:cNvPr id="28" name="Texte"/>
          <p:cNvSpPr txBox="1"/>
          <p:nvPr/>
        </p:nvSpPr>
        <p:spPr>
          <a:xfrm>
            <a:off x="7626096" y="3447288"/>
            <a:ext cx="3602736" cy="26517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Module tourelle · azimut + élévation</a:t>
            </a:r>
            <a:endParaRPr lang="fr-FR" sz="1100"/>
          </a:p>
        </p:txBody>
      </p:sp>
      <p:sp>
        <p:nvSpPr>
          <p:cNvPr id="29" name="Ligne"/>
          <p:cNvSpPr/>
          <p:nvPr/>
        </p:nvSpPr>
        <p:spPr>
          <a:xfrm>
            <a:off x="2999232" y="3108960"/>
            <a:ext cx="731520" cy="20117"/>
          </a:xfrm>
          <a:prstGeom prst="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30" name="Texte"/>
          <p:cNvSpPr txBox="1"/>
          <p:nvPr/>
        </p:nvSpPr>
        <p:spPr>
          <a:xfrm>
            <a:off x="3127248" y="281635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WS</a:t>
            </a:r>
            <a:endParaRPr lang="fr-FR" sz="800"/>
          </a:p>
        </p:txBody>
      </p:sp>
      <p:sp>
        <p:nvSpPr>
          <p:cNvPr id="31" name="Ligne"/>
          <p:cNvSpPr/>
          <p:nvPr/>
        </p:nvSpPr>
        <p:spPr>
          <a:xfrm>
            <a:off x="6601968" y="2752344"/>
            <a:ext cx="777240" cy="20117"/>
          </a:xfrm>
          <a:prstGeom prst="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32" name="Ligne"/>
          <p:cNvSpPr/>
          <p:nvPr/>
        </p:nvSpPr>
        <p:spPr>
          <a:xfrm>
            <a:off x="6601968" y="2761488"/>
            <a:ext cx="20117" cy="704088"/>
          </a:xfrm>
          <a:prstGeom prst="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33" name="Ligne"/>
          <p:cNvSpPr/>
          <p:nvPr/>
        </p:nvSpPr>
        <p:spPr>
          <a:xfrm>
            <a:off x="6601968" y="3465576"/>
            <a:ext cx="777240" cy="20117"/>
          </a:xfrm>
          <a:prstGeom prst="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34" name="Texte"/>
          <p:cNvSpPr txBox="1"/>
          <p:nvPr/>
        </p:nvSpPr>
        <p:spPr>
          <a:xfrm>
            <a:off x="6720840" y="2487168"/>
            <a:ext cx="557784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I²C</a:t>
            </a:r>
            <a:endParaRPr lang="fr-FR" sz="800"/>
          </a:p>
        </p:txBody>
      </p:sp>
      <p:sp>
        <p:nvSpPr>
          <p:cNvPr id="35" name="Texte"/>
          <p:cNvSpPr txBox="1"/>
          <p:nvPr/>
        </p:nvSpPr>
        <p:spPr>
          <a:xfrm>
            <a:off x="6720840" y="3675888"/>
            <a:ext cx="557784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I²C</a:t>
            </a:r>
            <a:endParaRPr lang="fr-FR" sz="800"/>
          </a:p>
        </p:txBody>
      </p:sp>
      <p:sp>
        <p:nvSpPr>
          <p:cNvPr id="36" name="Panneau"/>
          <p:cNvSpPr/>
          <p:nvPr/>
        </p:nvSpPr>
        <p:spPr>
          <a:xfrm>
            <a:off x="658368" y="4617720"/>
            <a:ext cx="10817352" cy="1133856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F0D4A6"/>
            </a:solidFill>
          </a:ln>
        </p:spPr>
      </p:sp>
      <p:sp>
        <p:nvSpPr>
          <p:cNvPr id="37" name="Texte"/>
          <p:cNvSpPr txBox="1"/>
          <p:nvPr/>
        </p:nvSpPr>
        <p:spPr>
          <a:xfrm>
            <a:off x="914400" y="480974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LIMITE DE RETOUR</a:t>
            </a:r>
            <a:endParaRPr lang="fr-FR" sz="800"/>
          </a:p>
        </p:txBody>
      </p:sp>
      <p:sp>
        <p:nvSpPr>
          <p:cNvPr id="38" name="Texte"/>
          <p:cNvSpPr txBox="1"/>
          <p:nvPr/>
        </p:nvSpPr>
        <p:spPr>
          <a:xfrm>
            <a:off x="914400" y="5102352"/>
            <a:ext cx="10195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200" b="1">
                <a:solidFill>
                  <a:srgbClr val="795016"/>
                </a:solidFill>
                <a:latin typeface="Aptos"/>
                <a:ea typeface="Aptos"/>
                <a:cs typeface="Aptos"/>
              </a:rPr>
              <a:t xml:space="preserve">Le canal applicatif est actuellement orienté commande : aucune mesure/actionneur ni confirmation I²C ne remonte aux écrans.</a:t>
            </a:r>
            <a:endParaRPr lang="fr-FR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INTERFACE OPÉRATEUR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Pupitre propulsion &amp; direction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04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4400093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Texte"/>
          <p:cNvSpPr txBox="1"/>
          <p:nvPr/>
        </p:nvSpPr>
        <p:spPr>
          <a:xfrm>
            <a:off x="621792" y="1417320"/>
            <a:ext cx="10881360" cy="30175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Joystick combiné au centre · poussée sur le curseur bas · gouvernail sur le curseur latéral droit.</a:t>
            </a:r>
            <a:endParaRPr lang="fr-FR" sz="1100"/>
          </a:p>
        </p:txBody>
      </p:sp>
      <p:sp>
        <p:nvSpPr>
          <p:cNvPr id="15" name="Panneau"/>
          <p:cNvSpPr/>
          <p:nvPr/>
        </p:nvSpPr>
        <p:spPr>
          <a:xfrm>
            <a:off x="621792" y="1847088"/>
            <a:ext cx="7909560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6" name="Texte"/>
          <p:cNvSpPr txBox="1"/>
          <p:nvPr/>
        </p:nvSpPr>
        <p:spPr>
          <a:xfrm>
            <a:off x="886968" y="208483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COMMANDE COMBINÉE</a:t>
            </a:r>
            <a:endParaRPr lang="fr-FR" sz="800"/>
          </a:p>
        </p:txBody>
      </p:sp>
      <p:sp>
        <p:nvSpPr>
          <p:cNvPr id="17" name="Texte"/>
          <p:cNvSpPr txBox="1"/>
          <p:nvPr/>
        </p:nvSpPr>
        <p:spPr>
          <a:xfrm>
            <a:off x="886968" y="2331720"/>
            <a:ext cx="7040880" cy="3383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6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Maintenez le joystick dans la direction souhaitée</a:t>
            </a:r>
            <a:endParaRPr lang="fr-FR" sz="1600"/>
          </a:p>
        </p:txBody>
      </p:sp>
      <p:sp>
        <p:nvSpPr>
          <p:cNvPr id="18" name="Texte"/>
          <p:cNvSpPr txBox="1"/>
          <p:nvPr/>
        </p:nvSpPr>
        <p:spPr>
          <a:xfrm>
            <a:off x="4233672" y="2752344"/>
            <a:ext cx="658368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8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AVANT</a:t>
            </a:r>
            <a:endParaRPr lang="fr-FR" sz="800"/>
          </a:p>
        </p:txBody>
      </p:sp>
      <p:sp>
        <p:nvSpPr>
          <p:cNvPr id="19" name="Texte"/>
          <p:cNvSpPr txBox="1"/>
          <p:nvPr/>
        </p:nvSpPr>
        <p:spPr>
          <a:xfrm>
            <a:off x="4197096" y="4425696"/>
            <a:ext cx="749808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8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ARRIÈRE</a:t>
            </a:r>
            <a:endParaRPr lang="fr-FR" sz="800"/>
          </a:p>
        </p:txBody>
      </p:sp>
      <p:sp>
        <p:nvSpPr>
          <p:cNvPr id="20" name="Forme"/>
          <p:cNvSpPr/>
          <p:nvPr/>
        </p:nvSpPr>
        <p:spPr>
          <a:xfrm>
            <a:off x="1965960" y="3246120"/>
            <a:ext cx="5202936" cy="135331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</p:sp>
      <p:sp>
        <p:nvSpPr>
          <p:cNvPr id="21" name="Forme"/>
          <p:cNvSpPr/>
          <p:nvPr/>
        </p:nvSpPr>
        <p:spPr>
          <a:xfrm>
            <a:off x="2221992" y="3136392"/>
            <a:ext cx="4681728" cy="1207008"/>
          </a:xfrm>
          <a:prstGeom prst="roundRect">
            <a:avLst/>
          </a:prstGeom>
          <a:solidFill>
            <a:srgbClr val="FAFCFE"/>
          </a:solidFill>
          <a:ln w="12700">
            <a:solidFill>
              <a:srgbClr val="C9D6E0"/>
            </a:solidFill>
          </a:ln>
        </p:spPr>
      </p:sp>
      <p:sp>
        <p:nvSpPr>
          <p:cNvPr id="22" name="Forme"/>
          <p:cNvSpPr/>
          <p:nvPr/>
        </p:nvSpPr>
        <p:spPr>
          <a:xfrm>
            <a:off x="4160520" y="3613709"/>
            <a:ext cx="822960" cy="197510"/>
          </a:xfrm>
          <a:prstGeom prst="ellipse">
            <a:avLst/>
          </a:prstGeom>
          <a:noFill/>
          <a:ln w="12700">
            <a:solidFill>
              <a:srgbClr val="C7D8E5"/>
            </a:solidFill>
          </a:ln>
        </p:spPr>
      </p:sp>
      <p:sp>
        <p:nvSpPr>
          <p:cNvPr id="23" name="Forme"/>
          <p:cNvSpPr/>
          <p:nvPr/>
        </p:nvSpPr>
        <p:spPr>
          <a:xfrm>
            <a:off x="3813048" y="3530316"/>
            <a:ext cx="1517904" cy="364297"/>
          </a:xfrm>
          <a:prstGeom prst="ellipse">
            <a:avLst/>
          </a:prstGeom>
          <a:noFill/>
          <a:ln w="12700">
            <a:solidFill>
              <a:srgbClr val="C7D8E5"/>
            </a:solidFill>
          </a:ln>
        </p:spPr>
      </p:sp>
      <p:sp>
        <p:nvSpPr>
          <p:cNvPr id="24" name="Forme"/>
          <p:cNvSpPr/>
          <p:nvPr/>
        </p:nvSpPr>
        <p:spPr>
          <a:xfrm>
            <a:off x="3474720" y="3449117"/>
            <a:ext cx="2194560" cy="526694"/>
          </a:xfrm>
          <a:prstGeom prst="ellipse">
            <a:avLst/>
          </a:prstGeom>
          <a:noFill/>
          <a:ln w="12700">
            <a:solidFill>
              <a:srgbClr val="C7D8E5"/>
            </a:solidFill>
          </a:ln>
        </p:spPr>
      </p:sp>
      <p:sp>
        <p:nvSpPr>
          <p:cNvPr id="25" name="Ligne"/>
          <p:cNvSpPr/>
          <p:nvPr/>
        </p:nvSpPr>
        <p:spPr>
          <a:xfrm>
            <a:off x="4572000" y="3346704"/>
            <a:ext cx="13716" cy="841248"/>
          </a:xfrm>
          <a:prstGeom prst="rect">
            <a:avLst/>
          </a:prstGeom>
          <a:solidFill>
            <a:srgbClr val="D2DCE5"/>
          </a:solidFill>
          <a:ln>
            <a:noFill/>
          </a:ln>
        </p:spPr>
      </p:sp>
      <p:sp>
        <p:nvSpPr>
          <p:cNvPr id="26" name="Ligne"/>
          <p:cNvSpPr/>
          <p:nvPr/>
        </p:nvSpPr>
        <p:spPr>
          <a:xfrm>
            <a:off x="3291840" y="3767328"/>
            <a:ext cx="2560320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</p:sp>
      <p:sp>
        <p:nvSpPr>
          <p:cNvPr id="27" name="Forme"/>
          <p:cNvSpPr/>
          <p:nvPr/>
        </p:nvSpPr>
        <p:spPr>
          <a:xfrm rot="-1200000">
            <a:off x="4114800" y="3867912"/>
            <a:ext cx="914400" cy="256032"/>
          </a:xfrm>
          <a:prstGeom prst="roundRect">
            <a:avLst/>
          </a:prstGeom>
          <a:solidFill>
            <a:srgbClr val="CCD6DE"/>
          </a:solidFill>
          <a:ln>
            <a:noFill/>
          </a:ln>
        </p:spPr>
      </p:sp>
      <p:sp>
        <p:nvSpPr>
          <p:cNvPr id="28" name="Forme"/>
          <p:cNvSpPr/>
          <p:nvPr/>
        </p:nvSpPr>
        <p:spPr>
          <a:xfrm rot="-1200000">
            <a:off x="4261104" y="3410712"/>
            <a:ext cx="566928" cy="822960"/>
          </a:xfrm>
          <a:prstGeom prst="roundRect">
            <a:avLst/>
          </a:prstGeom>
          <a:solidFill>
            <a:srgbClr val="95A8B6"/>
          </a:solidFill>
          <a:ln>
            <a:noFill/>
          </a:ln>
        </p:spPr>
      </p:sp>
      <p:sp>
        <p:nvSpPr>
          <p:cNvPr id="29" name="Forme"/>
          <p:cNvSpPr/>
          <p:nvPr/>
        </p:nvSpPr>
        <p:spPr>
          <a:xfrm rot="-1200000">
            <a:off x="4270248" y="3355848"/>
            <a:ext cx="566928" cy="82296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</p:sp>
      <p:sp>
        <p:nvSpPr>
          <p:cNvPr id="30" name="Forme"/>
          <p:cNvSpPr/>
          <p:nvPr/>
        </p:nvSpPr>
        <p:spPr>
          <a:xfrm>
            <a:off x="4251960" y="2852928"/>
            <a:ext cx="658368" cy="658368"/>
          </a:xfrm>
          <a:prstGeom prst="ellipse">
            <a:avLst/>
          </a:prstGeom>
          <a:solidFill>
            <a:srgbClr val="2474A6"/>
          </a:solidFill>
          <a:ln w="12700">
            <a:solidFill>
              <a:srgbClr val="1B5C87"/>
            </a:solidFill>
          </a:ln>
        </p:spPr>
      </p:sp>
      <p:sp>
        <p:nvSpPr>
          <p:cNvPr id="31" name="Forme"/>
          <p:cNvSpPr/>
          <p:nvPr/>
        </p:nvSpPr>
        <p:spPr>
          <a:xfrm>
            <a:off x="4379976" y="2971800"/>
            <a:ext cx="164592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Texte"/>
          <p:cNvSpPr txBox="1"/>
          <p:nvPr/>
        </p:nvSpPr>
        <p:spPr>
          <a:xfrm>
            <a:off x="2624328" y="4681728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ctr" marL="0" indent="0"/>
            <a:r>
              <a:rPr lang="fr-FR" sz="9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Glisser · relâcher pour arrêter et recentrer</a:t>
            </a:r>
            <a:endParaRPr lang="fr-FR" sz="900"/>
          </a:p>
        </p:txBody>
      </p:sp>
      <p:sp>
        <p:nvSpPr>
          <p:cNvPr id="33" name="Panneau"/>
          <p:cNvSpPr/>
          <p:nvPr/>
        </p:nvSpPr>
        <p:spPr>
          <a:xfrm>
            <a:off x="850392" y="5038344"/>
            <a:ext cx="744321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4" name="Texte"/>
          <p:cNvSpPr txBox="1"/>
          <p:nvPr/>
        </p:nvSpPr>
        <p:spPr>
          <a:xfrm>
            <a:off x="1042416" y="521208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Puissance moteur</a:t>
            </a:r>
            <a:endParaRPr lang="fr-FR" sz="1100"/>
          </a:p>
        </p:txBody>
      </p:sp>
      <p:sp>
        <p:nvSpPr>
          <p:cNvPr id="35" name="Texte"/>
          <p:cNvSpPr txBox="1"/>
          <p:nvPr/>
        </p:nvSpPr>
        <p:spPr>
          <a:xfrm>
            <a:off x="1042416" y="5431536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−100 %</a:t>
            </a:r>
            <a:endParaRPr lang="fr-FR" sz="700"/>
          </a:p>
        </p:txBody>
      </p:sp>
      <p:sp>
        <p:nvSpPr>
          <p:cNvPr id="36" name="Texte"/>
          <p:cNvSpPr txBox="1"/>
          <p:nvPr/>
        </p:nvSpPr>
        <p:spPr>
          <a:xfrm>
            <a:off x="7424928" y="5431536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+100 %</a:t>
            </a:r>
            <a:endParaRPr lang="fr-FR" sz="700"/>
          </a:p>
        </p:txBody>
      </p:sp>
      <p:sp>
        <p:nvSpPr>
          <p:cNvPr id="37" name="Ligne"/>
          <p:cNvSpPr/>
          <p:nvPr/>
        </p:nvSpPr>
        <p:spPr>
          <a:xfrm>
            <a:off x="1828800" y="5468112"/>
            <a:ext cx="5916168" cy="18288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38" name="Ligne"/>
          <p:cNvSpPr/>
          <p:nvPr/>
        </p:nvSpPr>
        <p:spPr>
          <a:xfrm>
            <a:off x="4572000" y="5468112"/>
            <a:ext cx="713232" cy="22860"/>
          </a:xfrm>
          <a:prstGeom prst="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39" name="Forme"/>
          <p:cNvSpPr/>
          <p:nvPr/>
        </p:nvSpPr>
        <p:spPr>
          <a:xfrm>
            <a:off x="5184648" y="5367528"/>
            <a:ext cx="201168" cy="201168"/>
          </a:xfrm>
          <a:prstGeom prst="ellipse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40" name="Panneau"/>
          <p:cNvSpPr/>
          <p:nvPr/>
        </p:nvSpPr>
        <p:spPr>
          <a:xfrm>
            <a:off x="8759952" y="1847088"/>
            <a:ext cx="2715768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41" name="Texte"/>
          <p:cNvSpPr txBox="1"/>
          <p:nvPr/>
        </p:nvSpPr>
        <p:spPr>
          <a:xfrm>
            <a:off x="9034272" y="2093976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GOUVERNAIL</a:t>
            </a:r>
            <a:endParaRPr lang="fr-FR" sz="800"/>
          </a:p>
        </p:txBody>
      </p:sp>
      <p:sp>
        <p:nvSpPr>
          <p:cNvPr id="42" name="Texte"/>
          <p:cNvSpPr txBox="1"/>
          <p:nvPr/>
        </p:nvSpPr>
        <p:spPr>
          <a:xfrm>
            <a:off x="9034272" y="2331720"/>
            <a:ext cx="2103120" cy="28346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Direction</a:t>
            </a:r>
            <a:endParaRPr lang="fr-FR" sz="1700"/>
          </a:p>
        </p:txBody>
      </p:sp>
      <p:sp>
        <p:nvSpPr>
          <p:cNvPr id="43" name="Texte"/>
          <p:cNvSpPr txBox="1"/>
          <p:nvPr/>
        </p:nvSpPr>
        <p:spPr>
          <a:xfrm>
            <a:off x="9034272" y="2688336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0° · axe central</a:t>
            </a:r>
            <a:endParaRPr lang="fr-FR" sz="1000"/>
          </a:p>
        </p:txBody>
      </p:sp>
      <p:sp>
        <p:nvSpPr>
          <p:cNvPr id="44" name="Texte"/>
          <p:cNvSpPr txBox="1"/>
          <p:nvPr/>
        </p:nvSpPr>
        <p:spPr>
          <a:xfrm>
            <a:off x="9061704" y="3136392"/>
            <a:ext cx="676656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TRIBORD</a:t>
            </a:r>
            <a:endParaRPr lang="fr-FR" sz="800"/>
          </a:p>
        </p:txBody>
      </p:sp>
      <p:sp>
        <p:nvSpPr>
          <p:cNvPr id="45" name="Texte"/>
          <p:cNvSpPr txBox="1"/>
          <p:nvPr/>
        </p:nvSpPr>
        <p:spPr>
          <a:xfrm>
            <a:off x="10625328" y="3136392"/>
            <a:ext cx="47548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+90°</a:t>
            </a:r>
            <a:endParaRPr lang="fr-FR" sz="800"/>
          </a:p>
        </p:txBody>
      </p:sp>
      <p:sp>
        <p:nvSpPr>
          <p:cNvPr id="46" name="Forme"/>
          <p:cNvSpPr/>
          <p:nvPr/>
        </p:nvSpPr>
        <p:spPr>
          <a:xfrm>
            <a:off x="10067544" y="3392424"/>
            <a:ext cx="73152" cy="1645920"/>
          </a:xfrm>
          <a:prstGeom prst="roundRect">
            <a:avLst/>
          </a:prstGeom>
          <a:solidFill>
            <a:srgbClr val="E7EDF3"/>
          </a:solidFill>
          <a:ln>
            <a:noFill/>
          </a:ln>
        </p:spPr>
      </p:sp>
      <p:sp>
        <p:nvSpPr>
          <p:cNvPr id="47" name="Forme"/>
          <p:cNvSpPr/>
          <p:nvPr/>
        </p:nvSpPr>
        <p:spPr>
          <a:xfrm>
            <a:off x="10067544" y="4069080"/>
            <a:ext cx="73152" cy="438912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48" name="Forme"/>
          <p:cNvSpPr/>
          <p:nvPr/>
        </p:nvSpPr>
        <p:spPr>
          <a:xfrm>
            <a:off x="9948672" y="39776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74A6"/>
            </a:solidFill>
          </a:ln>
        </p:spPr>
      </p:sp>
      <p:sp>
        <p:nvSpPr>
          <p:cNvPr id="49" name="Texte"/>
          <p:cNvSpPr txBox="1"/>
          <p:nvPr/>
        </p:nvSpPr>
        <p:spPr>
          <a:xfrm>
            <a:off x="10625328" y="4041648"/>
            <a:ext cx="47548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0°</a:t>
            </a:r>
            <a:endParaRPr lang="fr-FR" sz="800"/>
          </a:p>
        </p:txBody>
      </p:sp>
      <p:sp>
        <p:nvSpPr>
          <p:cNvPr id="50" name="Texte"/>
          <p:cNvSpPr txBox="1"/>
          <p:nvPr/>
        </p:nvSpPr>
        <p:spPr>
          <a:xfrm>
            <a:off x="10625328" y="4892040"/>
            <a:ext cx="47548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−90°</a:t>
            </a:r>
            <a:endParaRPr lang="fr-FR" sz="800"/>
          </a:p>
        </p:txBody>
      </p:sp>
      <p:sp>
        <p:nvSpPr>
          <p:cNvPr id="51" name="Texte"/>
          <p:cNvSpPr txBox="1"/>
          <p:nvPr/>
        </p:nvSpPr>
        <p:spPr>
          <a:xfrm>
            <a:off x="9061704" y="53126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Synchronisé avec</a:t>
            </a:r>
            <a:endParaRPr lang="fr-FR" sz="800"/>
          </a:p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l'axe horizontal du joystick</a:t>
            </a:r>
            <a:endParaRPr lang="fr-FR" sz="800"/>
          </a:p>
        </p:txBody>
      </p:sp>
      <p:sp>
        <p:nvSpPr>
          <p:cNvPr id="52" name="Forme"/>
          <p:cNvSpPr/>
          <p:nvPr/>
        </p:nvSpPr>
        <p:spPr>
          <a:xfrm>
            <a:off x="868680" y="5760720"/>
            <a:ext cx="100584" cy="100584"/>
          </a:xfrm>
          <a:prstGeom prst="ellipse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3" name="Texte"/>
          <p:cNvSpPr txBox="1"/>
          <p:nvPr/>
        </p:nvSpPr>
        <p:spPr>
          <a:xfrm>
            <a:off x="1069848" y="57332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Réactivité moteur : niveau 0–5</a:t>
            </a:r>
            <a:endParaRPr lang="fr-FR" sz="800"/>
          </a:p>
        </p:txBody>
      </p:sp>
      <p:sp>
        <p:nvSpPr>
          <p:cNvPr id="54" name="Texte"/>
          <p:cNvSpPr txBox="1"/>
          <p:nvPr/>
        </p:nvSpPr>
        <p:spPr>
          <a:xfrm>
            <a:off x="5577840" y="5733288"/>
            <a:ext cx="53949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Utilisation souris, tactile ou flèches clavier · valeurs synchronisées</a:t>
            </a:r>
            <a:endParaRPr lang="fr-FR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PROPULSION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Commandes de propulsion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05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5500116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Panneau"/>
          <p:cNvSpPr/>
          <p:nvPr/>
        </p:nvSpPr>
        <p:spPr>
          <a:xfrm>
            <a:off x="621792" y="1572768"/>
            <a:ext cx="35478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5" name="Forme"/>
          <p:cNvSpPr/>
          <p:nvPr/>
        </p:nvSpPr>
        <p:spPr>
          <a:xfrm>
            <a:off x="804672" y="1755648"/>
            <a:ext cx="448056" cy="4480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16" name="Texte"/>
          <p:cNvSpPr txBox="1"/>
          <p:nvPr/>
        </p:nvSpPr>
        <p:spPr>
          <a:xfrm>
            <a:off x="804672" y="1755648"/>
            <a:ext cx="448056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2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12</a:t>
            </a:r>
            <a:endParaRPr lang="fr-FR" sz="1200"/>
          </a:p>
        </p:txBody>
      </p:sp>
      <p:sp>
        <p:nvSpPr>
          <p:cNvPr id="17" name="Texte"/>
          <p:cNvSpPr txBox="1"/>
          <p:nvPr/>
        </p:nvSpPr>
        <p:spPr>
          <a:xfrm>
            <a:off x="1371600" y="170078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AVANCER</a:t>
            </a:r>
            <a:endParaRPr lang="fr-FR" sz="1000"/>
          </a:p>
        </p:txBody>
      </p:sp>
      <p:sp>
        <p:nvSpPr>
          <p:cNvPr id="18" name="Texte"/>
          <p:cNvSpPr txBox="1"/>
          <p:nvPr/>
        </p:nvSpPr>
        <p:spPr>
          <a:xfrm>
            <a:off x="1371600" y="194767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2,12,puissance,255</a:t>
            </a:r>
            <a:endParaRPr lang="fr-FR" sz="900"/>
          </a:p>
        </p:txBody>
      </p:sp>
      <p:sp>
        <p:nvSpPr>
          <p:cNvPr id="19" name="Texte"/>
          <p:cNvSpPr txBox="1"/>
          <p:nvPr/>
        </p:nvSpPr>
        <p:spPr>
          <a:xfrm>
            <a:off x="1371600" y="2167128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Puissance : 0–100</a:t>
            </a:r>
            <a:endParaRPr lang="fr-FR" sz="800"/>
          </a:p>
        </p:txBody>
      </p:sp>
      <p:sp>
        <p:nvSpPr>
          <p:cNvPr id="20" name="Panneau"/>
          <p:cNvSpPr/>
          <p:nvPr/>
        </p:nvSpPr>
        <p:spPr>
          <a:xfrm>
            <a:off x="4389120" y="1572768"/>
            <a:ext cx="35478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1" name="Forme"/>
          <p:cNvSpPr/>
          <p:nvPr/>
        </p:nvSpPr>
        <p:spPr>
          <a:xfrm>
            <a:off x="4572000" y="1755648"/>
            <a:ext cx="448056" cy="4480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22" name="Texte"/>
          <p:cNvSpPr txBox="1"/>
          <p:nvPr/>
        </p:nvSpPr>
        <p:spPr>
          <a:xfrm>
            <a:off x="4572000" y="1755648"/>
            <a:ext cx="448056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2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13</a:t>
            </a:r>
            <a:endParaRPr lang="fr-FR" sz="1200"/>
          </a:p>
        </p:txBody>
      </p:sp>
      <p:sp>
        <p:nvSpPr>
          <p:cNvPr id="23" name="Texte"/>
          <p:cNvSpPr txBox="1"/>
          <p:nvPr/>
        </p:nvSpPr>
        <p:spPr>
          <a:xfrm>
            <a:off x="5138928" y="170078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RECULER</a:t>
            </a:r>
            <a:endParaRPr lang="fr-FR" sz="1000"/>
          </a:p>
        </p:txBody>
      </p:sp>
      <p:sp>
        <p:nvSpPr>
          <p:cNvPr id="24" name="Texte"/>
          <p:cNvSpPr txBox="1"/>
          <p:nvPr/>
        </p:nvSpPr>
        <p:spPr>
          <a:xfrm>
            <a:off x="5138928" y="194767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2,13,puissance,255</a:t>
            </a:r>
            <a:endParaRPr lang="fr-FR" sz="900"/>
          </a:p>
        </p:txBody>
      </p:sp>
      <p:sp>
        <p:nvSpPr>
          <p:cNvPr id="25" name="Texte"/>
          <p:cNvSpPr txBox="1"/>
          <p:nvPr/>
        </p:nvSpPr>
        <p:spPr>
          <a:xfrm>
            <a:off x="5138928" y="2167128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Puissance : 0–100</a:t>
            </a:r>
            <a:endParaRPr lang="fr-FR" sz="800"/>
          </a:p>
        </p:txBody>
      </p:sp>
      <p:sp>
        <p:nvSpPr>
          <p:cNvPr id="26" name="Panneau"/>
          <p:cNvSpPr/>
          <p:nvPr/>
        </p:nvSpPr>
        <p:spPr>
          <a:xfrm>
            <a:off x="621792" y="2542032"/>
            <a:ext cx="35478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7" name="Forme"/>
          <p:cNvSpPr/>
          <p:nvPr/>
        </p:nvSpPr>
        <p:spPr>
          <a:xfrm>
            <a:off x="804672" y="2724912"/>
            <a:ext cx="448056" cy="4480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28" name="Texte"/>
          <p:cNvSpPr txBox="1"/>
          <p:nvPr/>
        </p:nvSpPr>
        <p:spPr>
          <a:xfrm>
            <a:off x="804672" y="2724912"/>
            <a:ext cx="448056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2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14</a:t>
            </a:r>
            <a:endParaRPr lang="fr-FR" sz="1200"/>
          </a:p>
        </p:txBody>
      </p:sp>
      <p:sp>
        <p:nvSpPr>
          <p:cNvPr id="29" name="Texte"/>
          <p:cNvSpPr txBox="1"/>
          <p:nvPr/>
        </p:nvSpPr>
        <p:spPr>
          <a:xfrm>
            <a:off x="1371600" y="267004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ARRÊTER</a:t>
            </a:r>
            <a:endParaRPr lang="fr-FR" sz="1000"/>
          </a:p>
        </p:txBody>
      </p:sp>
      <p:sp>
        <p:nvSpPr>
          <p:cNvPr id="30" name="Texte"/>
          <p:cNvSpPr txBox="1"/>
          <p:nvPr/>
        </p:nvSpPr>
        <p:spPr>
          <a:xfrm>
            <a:off x="1371600" y="2916936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2,14,255</a:t>
            </a:r>
            <a:endParaRPr lang="fr-FR" sz="900"/>
          </a:p>
        </p:txBody>
      </p:sp>
      <p:sp>
        <p:nvSpPr>
          <p:cNvPr id="31" name="Texte"/>
          <p:cNvSpPr txBox="1"/>
          <p:nvPr/>
        </p:nvSpPr>
        <p:spPr>
          <a:xfrm>
            <a:off x="1371600" y="3136392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Arrêt des moteurs</a:t>
            </a:r>
            <a:endParaRPr lang="fr-FR" sz="800"/>
          </a:p>
        </p:txBody>
      </p:sp>
      <p:sp>
        <p:nvSpPr>
          <p:cNvPr id="32" name="Panneau"/>
          <p:cNvSpPr/>
          <p:nvPr/>
        </p:nvSpPr>
        <p:spPr>
          <a:xfrm>
            <a:off x="4389120" y="2542032"/>
            <a:ext cx="35478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3" name="Forme"/>
          <p:cNvSpPr/>
          <p:nvPr/>
        </p:nvSpPr>
        <p:spPr>
          <a:xfrm>
            <a:off x="4572000" y="2724912"/>
            <a:ext cx="448056" cy="4480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34" name="Texte"/>
          <p:cNvSpPr txBox="1"/>
          <p:nvPr/>
        </p:nvSpPr>
        <p:spPr>
          <a:xfrm>
            <a:off x="4572000" y="2724912"/>
            <a:ext cx="448056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2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15</a:t>
            </a:r>
            <a:endParaRPr lang="fr-FR" sz="1200"/>
          </a:p>
        </p:txBody>
      </p:sp>
      <p:sp>
        <p:nvSpPr>
          <p:cNvPr id="35" name="Texte"/>
          <p:cNvSpPr txBox="1"/>
          <p:nvPr/>
        </p:nvSpPr>
        <p:spPr>
          <a:xfrm>
            <a:off x="5138928" y="267004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TRIBORD</a:t>
            </a:r>
            <a:endParaRPr lang="fr-FR" sz="1000"/>
          </a:p>
        </p:txBody>
      </p:sp>
      <p:sp>
        <p:nvSpPr>
          <p:cNvPr id="36" name="Texte"/>
          <p:cNvSpPr txBox="1"/>
          <p:nvPr/>
        </p:nvSpPr>
        <p:spPr>
          <a:xfrm>
            <a:off x="5138928" y="2916936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2,15,angle,255</a:t>
            </a:r>
            <a:endParaRPr lang="fr-FR" sz="900"/>
          </a:p>
        </p:txBody>
      </p:sp>
      <p:sp>
        <p:nvSpPr>
          <p:cNvPr id="37" name="Texte"/>
          <p:cNvSpPr txBox="1"/>
          <p:nvPr/>
        </p:nvSpPr>
        <p:spPr>
          <a:xfrm>
            <a:off x="5138928" y="3136392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Angle : 0–90°</a:t>
            </a:r>
            <a:endParaRPr lang="fr-FR" sz="800"/>
          </a:p>
        </p:txBody>
      </p:sp>
      <p:sp>
        <p:nvSpPr>
          <p:cNvPr id="38" name="Panneau"/>
          <p:cNvSpPr/>
          <p:nvPr/>
        </p:nvSpPr>
        <p:spPr>
          <a:xfrm>
            <a:off x="621792" y="3511296"/>
            <a:ext cx="35478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9" name="Forme"/>
          <p:cNvSpPr/>
          <p:nvPr/>
        </p:nvSpPr>
        <p:spPr>
          <a:xfrm>
            <a:off x="804672" y="3694176"/>
            <a:ext cx="448056" cy="4480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40" name="Texte"/>
          <p:cNvSpPr txBox="1"/>
          <p:nvPr/>
        </p:nvSpPr>
        <p:spPr>
          <a:xfrm>
            <a:off x="804672" y="3694176"/>
            <a:ext cx="448056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2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16</a:t>
            </a:r>
            <a:endParaRPr lang="fr-FR" sz="1200"/>
          </a:p>
        </p:txBody>
      </p:sp>
      <p:sp>
        <p:nvSpPr>
          <p:cNvPr id="41" name="Texte"/>
          <p:cNvSpPr txBox="1"/>
          <p:nvPr/>
        </p:nvSpPr>
        <p:spPr>
          <a:xfrm>
            <a:off x="1371600" y="36393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BÂBORD</a:t>
            </a:r>
            <a:endParaRPr lang="fr-FR" sz="1000"/>
          </a:p>
        </p:txBody>
      </p:sp>
      <p:sp>
        <p:nvSpPr>
          <p:cNvPr id="42" name="Texte"/>
          <p:cNvSpPr txBox="1"/>
          <p:nvPr/>
        </p:nvSpPr>
        <p:spPr>
          <a:xfrm>
            <a:off x="1371600" y="3886200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2,16,angle,255</a:t>
            </a:r>
            <a:endParaRPr lang="fr-FR" sz="900"/>
          </a:p>
        </p:txBody>
      </p:sp>
      <p:sp>
        <p:nvSpPr>
          <p:cNvPr id="43" name="Texte"/>
          <p:cNvSpPr txBox="1"/>
          <p:nvPr/>
        </p:nvSpPr>
        <p:spPr>
          <a:xfrm>
            <a:off x="1371600" y="4105656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Angle : 0–90°</a:t>
            </a:r>
            <a:endParaRPr lang="fr-FR" sz="800"/>
          </a:p>
        </p:txBody>
      </p:sp>
      <p:sp>
        <p:nvSpPr>
          <p:cNvPr id="44" name="Panneau"/>
          <p:cNvSpPr/>
          <p:nvPr/>
        </p:nvSpPr>
        <p:spPr>
          <a:xfrm>
            <a:off x="4389120" y="3511296"/>
            <a:ext cx="35478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45" name="Forme"/>
          <p:cNvSpPr/>
          <p:nvPr/>
        </p:nvSpPr>
        <p:spPr>
          <a:xfrm>
            <a:off x="4572000" y="3694176"/>
            <a:ext cx="448056" cy="4480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46" name="Texte"/>
          <p:cNvSpPr txBox="1"/>
          <p:nvPr/>
        </p:nvSpPr>
        <p:spPr>
          <a:xfrm>
            <a:off x="4572000" y="3694176"/>
            <a:ext cx="448056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2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17</a:t>
            </a:r>
            <a:endParaRPr lang="fr-FR" sz="1200"/>
          </a:p>
        </p:txBody>
      </p:sp>
      <p:sp>
        <p:nvSpPr>
          <p:cNvPr id="47" name="Texte"/>
          <p:cNvSpPr txBox="1"/>
          <p:nvPr/>
        </p:nvSpPr>
        <p:spPr>
          <a:xfrm>
            <a:off x="5138928" y="36393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RECENTRER</a:t>
            </a:r>
            <a:endParaRPr lang="fr-FR" sz="1000"/>
          </a:p>
        </p:txBody>
      </p:sp>
      <p:sp>
        <p:nvSpPr>
          <p:cNvPr id="48" name="Texte"/>
          <p:cNvSpPr txBox="1"/>
          <p:nvPr/>
        </p:nvSpPr>
        <p:spPr>
          <a:xfrm>
            <a:off x="5138928" y="3886200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2,17,255</a:t>
            </a:r>
            <a:endParaRPr lang="fr-FR" sz="900"/>
          </a:p>
        </p:txBody>
      </p:sp>
      <p:sp>
        <p:nvSpPr>
          <p:cNvPr id="49" name="Texte"/>
          <p:cNvSpPr txBox="1"/>
          <p:nvPr/>
        </p:nvSpPr>
        <p:spPr>
          <a:xfrm>
            <a:off x="5138928" y="4105656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Gouvernail à l'axe</a:t>
            </a:r>
            <a:endParaRPr lang="fr-FR" sz="800"/>
          </a:p>
        </p:txBody>
      </p:sp>
      <p:sp>
        <p:nvSpPr>
          <p:cNvPr id="50" name="Panneau"/>
          <p:cNvSpPr/>
          <p:nvPr/>
        </p:nvSpPr>
        <p:spPr>
          <a:xfrm>
            <a:off x="621792" y="4480560"/>
            <a:ext cx="35478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51" name="Forme"/>
          <p:cNvSpPr/>
          <p:nvPr/>
        </p:nvSpPr>
        <p:spPr>
          <a:xfrm>
            <a:off x="804672" y="4663440"/>
            <a:ext cx="448056" cy="4480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52" name="Texte"/>
          <p:cNvSpPr txBox="1"/>
          <p:nvPr/>
        </p:nvSpPr>
        <p:spPr>
          <a:xfrm>
            <a:off x="804672" y="4663440"/>
            <a:ext cx="448056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2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18</a:t>
            </a:r>
            <a:endParaRPr lang="fr-FR" sz="1200"/>
          </a:p>
        </p:txBody>
      </p:sp>
      <p:sp>
        <p:nvSpPr>
          <p:cNvPr id="53" name="Texte"/>
          <p:cNvSpPr txBox="1"/>
          <p:nvPr/>
        </p:nvSpPr>
        <p:spPr>
          <a:xfrm>
            <a:off x="1371600" y="4608576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RÉACTIVITÉ</a:t>
            </a:r>
            <a:endParaRPr lang="fr-FR" sz="1000"/>
          </a:p>
        </p:txBody>
      </p:sp>
      <p:sp>
        <p:nvSpPr>
          <p:cNvPr id="54" name="Texte"/>
          <p:cNvSpPr txBox="1"/>
          <p:nvPr/>
        </p:nvSpPr>
        <p:spPr>
          <a:xfrm>
            <a:off x="1371600" y="4855464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2,18,niveau,255</a:t>
            </a:r>
            <a:endParaRPr lang="fr-FR" sz="900"/>
          </a:p>
        </p:txBody>
      </p:sp>
      <p:sp>
        <p:nvSpPr>
          <p:cNvPr id="55" name="Texte"/>
          <p:cNvSpPr txBox="1"/>
          <p:nvPr/>
        </p:nvSpPr>
        <p:spPr>
          <a:xfrm>
            <a:off x="1371600" y="5074920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Niveau proportionnel : 0–5</a:t>
            </a:r>
            <a:endParaRPr lang="fr-FR" sz="800"/>
          </a:p>
        </p:txBody>
      </p:sp>
      <p:sp>
        <p:nvSpPr>
          <p:cNvPr id="56" name="Panneau"/>
          <p:cNvSpPr/>
          <p:nvPr/>
        </p:nvSpPr>
        <p:spPr>
          <a:xfrm>
            <a:off x="8293608" y="1572768"/>
            <a:ext cx="3172968" cy="3648456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0233F"/>
            </a:solidFill>
          </a:ln>
        </p:spPr>
      </p:sp>
      <p:sp>
        <p:nvSpPr>
          <p:cNvPr id="57" name="Texte"/>
          <p:cNvSpPr txBox="1"/>
          <p:nvPr/>
        </p:nvSpPr>
        <p:spPr>
          <a:xfrm>
            <a:off x="8567928" y="184708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MÉLANGE PROPORTIONNEL</a:t>
            </a:r>
            <a:endParaRPr lang="fr-FR" sz="800"/>
          </a:p>
        </p:txBody>
      </p:sp>
      <p:sp>
        <p:nvSpPr>
          <p:cNvPr id="58" name="Texte"/>
          <p:cNvSpPr txBox="1"/>
          <p:nvPr/>
        </p:nvSpPr>
        <p:spPr>
          <a:xfrm>
            <a:off x="8567928" y="2276856"/>
            <a:ext cx="2560320" cy="7955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Direction + puissance</a:t>
            </a:r>
            <a:endParaRPr lang="fr-FR" sz="1700"/>
          </a:p>
          <a:p>
            <a:pPr algn="l" marL="0" indent="0"/>
            <a:r>
              <a:rPr lang="fr-FR"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→ répartition moteurs</a:t>
            </a:r>
            <a:endParaRPr lang="fr-FR" sz="1700"/>
          </a:p>
        </p:txBody>
      </p:sp>
      <p:sp>
        <p:nvSpPr>
          <p:cNvPr id="59" name="Texte"/>
          <p:cNvSpPr txBox="1"/>
          <p:nvPr/>
        </p:nvSpPr>
        <p:spPr>
          <a:xfrm>
            <a:off x="8567928" y="338328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Le module applique une correction aux moteurs gauche et droit, selon l'angle et le niveau choisis.</a:t>
            </a:r>
            <a:endParaRPr lang="fr-FR" sz="1000"/>
          </a:p>
        </p:txBody>
      </p:sp>
      <p:sp>
        <p:nvSpPr>
          <p:cNvPr id="60" name="Forme"/>
          <p:cNvSpPr/>
          <p:nvPr/>
        </p:nvSpPr>
        <p:spPr>
          <a:xfrm>
            <a:off x="8586216" y="4325112"/>
            <a:ext cx="2487168" cy="10973"/>
          </a:xfrm>
          <a:prstGeom prst="rect">
            <a:avLst/>
          </a:prstGeom>
          <a:solidFill>
            <a:srgbClr val="3A5674"/>
          </a:solidFill>
          <a:ln>
            <a:noFill/>
          </a:ln>
        </p:spPr>
      </p:sp>
      <p:sp>
        <p:nvSpPr>
          <p:cNvPr id="61" name="Texte"/>
          <p:cNvSpPr txBox="1"/>
          <p:nvPr/>
        </p:nvSpPr>
        <p:spPr>
          <a:xfrm>
            <a:off x="8567928" y="451713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TRAMES TERMINÉES PAR 255 + CRLF</a:t>
            </a:r>
            <a:endParaRPr lang="fr-FR" sz="800"/>
          </a:p>
        </p:txBody>
      </p:sp>
      <p:sp>
        <p:nvSpPr>
          <p:cNvPr id="62" name="Panneau"/>
          <p:cNvSpPr/>
          <p:nvPr/>
        </p:nvSpPr>
        <p:spPr>
          <a:xfrm>
            <a:off x="621792" y="4645152"/>
            <a:ext cx="7306056" cy="996696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D2E8D9"/>
            </a:solidFill>
          </a:ln>
        </p:spPr>
      </p:sp>
      <p:sp>
        <p:nvSpPr>
          <p:cNvPr id="63" name="Texte"/>
          <p:cNvSpPr txBox="1"/>
          <p:nvPr/>
        </p:nvSpPr>
        <p:spPr>
          <a:xfrm>
            <a:off x="859536" y="48463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COMPORTEMENT AU RELÂCHEMENT</a:t>
            </a:r>
            <a:endParaRPr lang="fr-FR" sz="800"/>
          </a:p>
        </p:txBody>
      </p:sp>
      <p:sp>
        <p:nvSpPr>
          <p:cNvPr id="64" name="Texte"/>
          <p:cNvSpPr txBox="1"/>
          <p:nvPr/>
        </p:nvSpPr>
        <p:spPr>
          <a:xfrm>
            <a:off x="859536" y="5102352"/>
            <a:ext cx="676656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23835B"/>
                </a:solidFill>
                <a:latin typeface="Aptos"/>
                <a:ea typeface="Aptos"/>
                <a:cs typeface="Aptos"/>
              </a:rPr>
              <a:t xml:space="preserve">Joystick au neutre → arrêt moteur (14) + recentrage direction (17).</a:t>
            </a:r>
            <a:endParaRPr lang="fr-FR" sz="1100"/>
          </a:p>
        </p:txBody>
      </p:sp>
      <p:sp>
        <p:nvSpPr>
          <p:cNvPr id="65" name="Texte"/>
          <p:cNvSpPr txBox="1"/>
          <p:nvPr/>
        </p:nvSpPr>
        <p:spPr>
          <a:xfrm>
            <a:off x="658368" y="5907024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Les curseurs indépendants déclenchent les mêmes commandes; l'écran regroupe brièvement les changements simultanés.</a:t>
            </a:r>
            <a:endParaRPr lang="fr-FR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SUPERVISION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Tourelle &amp; instruments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06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6600139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Panneau"/>
          <p:cNvSpPr/>
          <p:nvPr/>
        </p:nvSpPr>
        <p:spPr>
          <a:xfrm>
            <a:off x="621792" y="1645920"/>
            <a:ext cx="5230368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5" name="Texte"/>
          <p:cNvSpPr txBox="1"/>
          <p:nvPr/>
        </p:nvSpPr>
        <p:spPr>
          <a:xfrm>
            <a:off x="914400" y="19019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MODULE 1 · COMMANDE DE POSITION</a:t>
            </a:r>
            <a:endParaRPr lang="fr-FR" sz="800"/>
          </a:p>
        </p:txBody>
      </p:sp>
      <p:sp>
        <p:nvSpPr>
          <p:cNvPr id="16" name="Texte"/>
          <p:cNvSpPr txBox="1"/>
          <p:nvPr/>
        </p:nvSpPr>
        <p:spPr>
          <a:xfrm>
            <a:off x="914400" y="22402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Deux axes, une consigne cohérente</a:t>
            </a:r>
            <a:endParaRPr lang="fr-FR" sz="1800"/>
          </a:p>
        </p:txBody>
      </p:sp>
      <p:sp>
        <p:nvSpPr>
          <p:cNvPr id="17" name="Texte"/>
          <p:cNvSpPr txBox="1"/>
          <p:nvPr/>
        </p:nvSpPr>
        <p:spPr>
          <a:xfrm>
            <a:off x="914400" y="2724912"/>
            <a:ext cx="43708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2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Azimut : 0–180°</a:t>
            </a:r>
            <a:endParaRPr lang="fr-FR" sz="1200"/>
          </a:p>
          <a:p>
            <a:pPr algn="l" marL="0" indent="0"/>
            <a:r>
              <a:rPr lang="fr-FR" sz="12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Élévation : 0–60°</a:t>
            </a:r>
            <a:endParaRPr lang="fr-FR" sz="1200"/>
          </a:p>
        </p:txBody>
      </p:sp>
      <p:sp>
        <p:nvSpPr>
          <p:cNvPr id="18" name="Texte"/>
          <p:cNvSpPr txBox="1"/>
          <p:nvPr/>
        </p:nvSpPr>
        <p:spPr>
          <a:xfrm>
            <a:off x="914400" y="3557016"/>
            <a:ext cx="4334256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À chaque déplacement, la page envoie azimut et élévation dans la même trame, pour conserver la valeur de l'axe immobile.</a:t>
            </a:r>
            <a:endParaRPr lang="fr-FR" sz="1000"/>
          </a:p>
        </p:txBody>
      </p:sp>
      <p:sp>
        <p:nvSpPr>
          <p:cNvPr id="19" name="Forme"/>
          <p:cNvSpPr/>
          <p:nvPr/>
        </p:nvSpPr>
        <p:spPr>
          <a:xfrm>
            <a:off x="914400" y="4544568"/>
            <a:ext cx="1956816" cy="6766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20" name="Texte"/>
          <p:cNvSpPr txBox="1"/>
          <p:nvPr/>
        </p:nvSpPr>
        <p:spPr>
          <a:xfrm>
            <a:off x="1078992" y="4636008"/>
            <a:ext cx="167335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AZIMUT</a:t>
            </a:r>
            <a:endParaRPr lang="fr-FR" sz="800"/>
          </a:p>
        </p:txBody>
      </p:sp>
      <p:sp>
        <p:nvSpPr>
          <p:cNvPr id="21" name="Texte"/>
          <p:cNvSpPr txBox="1"/>
          <p:nvPr/>
        </p:nvSpPr>
        <p:spPr>
          <a:xfrm>
            <a:off x="1078992" y="4855464"/>
            <a:ext cx="161848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0–180°</a:t>
            </a:r>
            <a:endParaRPr lang="fr-FR" sz="1300"/>
          </a:p>
        </p:txBody>
      </p:sp>
      <p:sp>
        <p:nvSpPr>
          <p:cNvPr id="22" name="Forme"/>
          <p:cNvSpPr/>
          <p:nvPr/>
        </p:nvSpPr>
        <p:spPr>
          <a:xfrm>
            <a:off x="3127248" y="4544568"/>
            <a:ext cx="1947672" cy="676656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</p:sp>
      <p:sp>
        <p:nvSpPr>
          <p:cNvPr id="23" name="Texte"/>
          <p:cNvSpPr txBox="1"/>
          <p:nvPr/>
        </p:nvSpPr>
        <p:spPr>
          <a:xfrm>
            <a:off x="3291840" y="4636008"/>
            <a:ext cx="166420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ÉLÉVATION</a:t>
            </a:r>
            <a:endParaRPr lang="fr-FR" sz="800"/>
          </a:p>
        </p:txBody>
      </p:sp>
      <p:sp>
        <p:nvSpPr>
          <p:cNvPr id="24" name="Texte"/>
          <p:cNvSpPr txBox="1"/>
          <p:nvPr/>
        </p:nvSpPr>
        <p:spPr>
          <a:xfrm>
            <a:off x="3291840" y="4855464"/>
            <a:ext cx="165506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0–60°</a:t>
            </a:r>
            <a:endParaRPr lang="fr-FR" sz="1300"/>
          </a:p>
        </p:txBody>
      </p:sp>
      <p:sp>
        <p:nvSpPr>
          <p:cNvPr id="25" name="Panneau"/>
          <p:cNvSpPr/>
          <p:nvPr/>
        </p:nvSpPr>
        <p:spPr>
          <a:xfrm>
            <a:off x="6089904" y="1645920"/>
            <a:ext cx="5376672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6" name="Texte"/>
          <p:cNvSpPr txBox="1"/>
          <p:nvPr/>
        </p:nvSpPr>
        <p:spPr>
          <a:xfrm>
            <a:off x="6364224" y="19019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INSTRUMENTS · 5 INDICATEURS</a:t>
            </a:r>
            <a:endParaRPr lang="fr-FR" sz="800"/>
          </a:p>
        </p:txBody>
      </p:sp>
      <p:sp>
        <p:nvSpPr>
          <p:cNvPr id="27" name="Panneau"/>
          <p:cNvSpPr/>
          <p:nvPr/>
        </p:nvSpPr>
        <p:spPr>
          <a:xfrm>
            <a:off x="6364224" y="2322576"/>
            <a:ext cx="1426464" cy="80467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1E8EF"/>
            </a:solidFill>
          </a:ln>
        </p:spPr>
      </p:sp>
      <p:sp>
        <p:nvSpPr>
          <p:cNvPr id="28" name="Texte"/>
          <p:cNvSpPr txBox="1"/>
          <p:nvPr/>
        </p:nvSpPr>
        <p:spPr>
          <a:xfrm>
            <a:off x="6446520" y="2423160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MOTEUR G.</a:t>
            </a:r>
            <a:endParaRPr lang="fr-FR" sz="700"/>
          </a:p>
        </p:txBody>
      </p:sp>
      <p:sp>
        <p:nvSpPr>
          <p:cNvPr id="29" name="Texte"/>
          <p:cNvSpPr txBox="1"/>
          <p:nvPr/>
        </p:nvSpPr>
        <p:spPr>
          <a:xfrm>
            <a:off x="6446520" y="26243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3 240</a:t>
            </a:r>
            <a:endParaRPr lang="fr-FR" sz="1700"/>
          </a:p>
        </p:txBody>
      </p:sp>
      <p:sp>
        <p:nvSpPr>
          <p:cNvPr id="30" name="Texte"/>
          <p:cNvSpPr txBox="1"/>
          <p:nvPr/>
        </p:nvSpPr>
        <p:spPr>
          <a:xfrm>
            <a:off x="6446520" y="2926080"/>
            <a:ext cx="1280160" cy="1188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tr/min</a:t>
            </a:r>
            <a:endParaRPr lang="fr-FR" sz="700"/>
          </a:p>
        </p:txBody>
      </p:sp>
      <p:sp>
        <p:nvSpPr>
          <p:cNvPr id="31" name="Panneau"/>
          <p:cNvSpPr/>
          <p:nvPr/>
        </p:nvSpPr>
        <p:spPr>
          <a:xfrm>
            <a:off x="7936992" y="2322576"/>
            <a:ext cx="1426464" cy="80467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1E8EF"/>
            </a:solidFill>
          </a:ln>
        </p:spPr>
      </p:sp>
      <p:sp>
        <p:nvSpPr>
          <p:cNvPr id="32" name="Texte"/>
          <p:cNvSpPr txBox="1"/>
          <p:nvPr/>
        </p:nvSpPr>
        <p:spPr>
          <a:xfrm>
            <a:off x="8019288" y="2423160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ARBRE G.</a:t>
            </a:r>
            <a:endParaRPr lang="fr-FR" sz="700"/>
          </a:p>
        </p:txBody>
      </p:sp>
      <p:sp>
        <p:nvSpPr>
          <p:cNvPr id="33" name="Texte"/>
          <p:cNvSpPr txBox="1"/>
          <p:nvPr/>
        </p:nvSpPr>
        <p:spPr>
          <a:xfrm>
            <a:off x="8019288" y="26243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1 180</a:t>
            </a:r>
            <a:endParaRPr lang="fr-FR" sz="1700"/>
          </a:p>
        </p:txBody>
      </p:sp>
      <p:sp>
        <p:nvSpPr>
          <p:cNvPr id="34" name="Texte"/>
          <p:cNvSpPr txBox="1"/>
          <p:nvPr/>
        </p:nvSpPr>
        <p:spPr>
          <a:xfrm>
            <a:off x="8019288" y="2926080"/>
            <a:ext cx="1280160" cy="1188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tr/min</a:t>
            </a:r>
            <a:endParaRPr lang="fr-FR" sz="700"/>
          </a:p>
        </p:txBody>
      </p:sp>
      <p:sp>
        <p:nvSpPr>
          <p:cNvPr id="35" name="Panneau"/>
          <p:cNvSpPr/>
          <p:nvPr/>
        </p:nvSpPr>
        <p:spPr>
          <a:xfrm>
            <a:off x="9509760" y="2322576"/>
            <a:ext cx="1426464" cy="80467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1E8EF"/>
            </a:solidFill>
          </a:ln>
        </p:spPr>
      </p:sp>
      <p:sp>
        <p:nvSpPr>
          <p:cNvPr id="36" name="Texte"/>
          <p:cNvSpPr txBox="1"/>
          <p:nvPr/>
        </p:nvSpPr>
        <p:spPr>
          <a:xfrm>
            <a:off x="9592056" y="2423160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PUISSANCE</a:t>
            </a:r>
            <a:endParaRPr lang="fr-FR" sz="700"/>
          </a:p>
        </p:txBody>
      </p:sp>
      <p:sp>
        <p:nvSpPr>
          <p:cNvPr id="37" name="Texte"/>
          <p:cNvSpPr txBox="1"/>
          <p:nvPr/>
        </p:nvSpPr>
        <p:spPr>
          <a:xfrm>
            <a:off x="9592056" y="26243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62</a:t>
            </a:r>
            <a:endParaRPr lang="fr-FR" sz="1700"/>
          </a:p>
        </p:txBody>
      </p:sp>
      <p:sp>
        <p:nvSpPr>
          <p:cNvPr id="38" name="Texte"/>
          <p:cNvSpPr txBox="1"/>
          <p:nvPr/>
        </p:nvSpPr>
        <p:spPr>
          <a:xfrm>
            <a:off x="9592056" y="2926080"/>
            <a:ext cx="1280160" cy="1188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%</a:t>
            </a:r>
            <a:endParaRPr lang="fr-FR" sz="700"/>
          </a:p>
        </p:txBody>
      </p:sp>
      <p:sp>
        <p:nvSpPr>
          <p:cNvPr id="39" name="Panneau"/>
          <p:cNvSpPr/>
          <p:nvPr/>
        </p:nvSpPr>
        <p:spPr>
          <a:xfrm>
            <a:off x="6364224" y="3337560"/>
            <a:ext cx="1426464" cy="80467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1E8EF"/>
            </a:solidFill>
          </a:ln>
        </p:spPr>
      </p:sp>
      <p:sp>
        <p:nvSpPr>
          <p:cNvPr id="40" name="Texte"/>
          <p:cNvSpPr txBox="1"/>
          <p:nvPr/>
        </p:nvSpPr>
        <p:spPr>
          <a:xfrm>
            <a:off x="6446520" y="3438144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ARBRE D.</a:t>
            </a:r>
            <a:endParaRPr lang="fr-FR" sz="700"/>
          </a:p>
        </p:txBody>
      </p:sp>
      <p:sp>
        <p:nvSpPr>
          <p:cNvPr id="41" name="Texte"/>
          <p:cNvSpPr txBox="1"/>
          <p:nvPr/>
        </p:nvSpPr>
        <p:spPr>
          <a:xfrm>
            <a:off x="6446520" y="363931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1 165</a:t>
            </a:r>
            <a:endParaRPr lang="fr-FR" sz="1700"/>
          </a:p>
        </p:txBody>
      </p:sp>
      <p:sp>
        <p:nvSpPr>
          <p:cNvPr id="42" name="Texte"/>
          <p:cNvSpPr txBox="1"/>
          <p:nvPr/>
        </p:nvSpPr>
        <p:spPr>
          <a:xfrm>
            <a:off x="6446520" y="3941064"/>
            <a:ext cx="1280160" cy="1188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tr/min</a:t>
            </a:r>
            <a:endParaRPr lang="fr-FR" sz="700"/>
          </a:p>
        </p:txBody>
      </p:sp>
      <p:sp>
        <p:nvSpPr>
          <p:cNvPr id="43" name="Panneau"/>
          <p:cNvSpPr/>
          <p:nvPr/>
        </p:nvSpPr>
        <p:spPr>
          <a:xfrm>
            <a:off x="7936992" y="3337560"/>
            <a:ext cx="1426464" cy="80467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1E8EF"/>
            </a:solidFill>
          </a:ln>
        </p:spPr>
      </p:sp>
      <p:sp>
        <p:nvSpPr>
          <p:cNvPr id="44" name="Texte"/>
          <p:cNvSpPr txBox="1"/>
          <p:nvPr/>
        </p:nvSpPr>
        <p:spPr>
          <a:xfrm>
            <a:off x="8019288" y="3438144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MOTEUR D.</a:t>
            </a:r>
            <a:endParaRPr lang="fr-FR" sz="700"/>
          </a:p>
        </p:txBody>
      </p:sp>
      <p:sp>
        <p:nvSpPr>
          <p:cNvPr id="45" name="Texte"/>
          <p:cNvSpPr txBox="1"/>
          <p:nvPr/>
        </p:nvSpPr>
        <p:spPr>
          <a:xfrm>
            <a:off x="8019288" y="363931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3 210</a:t>
            </a:r>
            <a:endParaRPr lang="fr-FR" sz="1700"/>
          </a:p>
        </p:txBody>
      </p:sp>
      <p:sp>
        <p:nvSpPr>
          <p:cNvPr id="46" name="Texte"/>
          <p:cNvSpPr txBox="1"/>
          <p:nvPr/>
        </p:nvSpPr>
        <p:spPr>
          <a:xfrm>
            <a:off x="8019288" y="3941064"/>
            <a:ext cx="1280160" cy="1188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tr/min</a:t>
            </a:r>
            <a:endParaRPr lang="fr-FR" sz="700"/>
          </a:p>
        </p:txBody>
      </p:sp>
      <p:sp>
        <p:nvSpPr>
          <p:cNvPr id="47" name="Panneau"/>
          <p:cNvSpPr/>
          <p:nvPr/>
        </p:nvSpPr>
        <p:spPr>
          <a:xfrm>
            <a:off x="6373368" y="4535424"/>
            <a:ext cx="4773168" cy="832104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F0D4A6"/>
            </a:solidFill>
          </a:ln>
        </p:spPr>
      </p:sp>
      <p:sp>
        <p:nvSpPr>
          <p:cNvPr id="48" name="Texte"/>
          <p:cNvSpPr txBox="1"/>
          <p:nvPr/>
        </p:nvSpPr>
        <p:spPr>
          <a:xfrm>
            <a:off x="6537960" y="4672584"/>
            <a:ext cx="4407408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795016"/>
                </a:solidFill>
                <a:latin typeface="Aptos"/>
                <a:ea typeface="Aptos"/>
                <a:cs typeface="Aptos"/>
              </a:rPr>
              <a:t xml:space="preserve">Valeurs indicatives uniquement : les modules ne renvoient actuellement aucune télémétrie vers l'interface.</a:t>
            </a:r>
            <a:endParaRPr lang="fr-FR" sz="1000"/>
          </a:p>
        </p:txBody>
      </p:sp>
      <p:sp>
        <p:nvSpPr>
          <p:cNvPr id="49" name="Texte"/>
          <p:cNvSpPr txBox="1"/>
          <p:nvPr/>
        </p:nvSpPr>
        <p:spPr>
          <a:xfrm>
            <a:off x="6364224" y="5504688"/>
            <a:ext cx="473659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Fumée et son de tourelle : sorties réservées, non implémentées.</a:t>
            </a:r>
            <a:endParaRPr lang="fr-FR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ÉLECTRONIQUE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Modules &amp; raccordements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07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7700162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Texte"/>
          <p:cNvSpPr txBox="1"/>
          <p:nvPr/>
        </p:nvSpPr>
        <p:spPr>
          <a:xfrm>
            <a:off x="621792" y="1408176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Broches relevées dans les firmwares actuels · confirmer le matériel et les limites mécaniques avant essai.</a:t>
            </a:r>
            <a:endParaRPr lang="fr-FR" sz="1000"/>
          </a:p>
        </p:txBody>
      </p:sp>
      <p:sp>
        <p:nvSpPr>
          <p:cNvPr id="15" name="Panneau"/>
          <p:cNvSpPr/>
          <p:nvPr/>
        </p:nvSpPr>
        <p:spPr>
          <a:xfrm>
            <a:off x="621792" y="1783080"/>
            <a:ext cx="3529584" cy="9144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0233F"/>
            </a:solidFill>
          </a:ln>
        </p:spPr>
      </p:sp>
      <p:sp>
        <p:nvSpPr>
          <p:cNvPr id="16" name="Texte"/>
          <p:cNvSpPr txBox="1"/>
          <p:nvPr/>
        </p:nvSpPr>
        <p:spPr>
          <a:xfrm>
            <a:off x="813816" y="193852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CENTRAL</a:t>
            </a:r>
            <a:endParaRPr lang="fr-FR" sz="800"/>
          </a:p>
        </p:txBody>
      </p:sp>
      <p:sp>
        <p:nvSpPr>
          <p:cNvPr id="17" name="Texte"/>
          <p:cNvSpPr txBox="1"/>
          <p:nvPr/>
        </p:nvSpPr>
        <p:spPr>
          <a:xfrm>
            <a:off x="813816" y="2194560"/>
            <a:ext cx="308152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Arduino Uno + PHPoC  ·  Serveur WebSocket / Maître I²C</a:t>
            </a:r>
            <a:endParaRPr lang="fr-FR" sz="900"/>
          </a:p>
        </p:txBody>
      </p:sp>
      <p:sp>
        <p:nvSpPr>
          <p:cNvPr id="18" name="Panneau"/>
          <p:cNvSpPr/>
          <p:nvPr/>
        </p:nvSpPr>
        <p:spPr>
          <a:xfrm>
            <a:off x="4389120" y="1783080"/>
            <a:ext cx="352958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9" name="Texte"/>
          <p:cNvSpPr txBox="1"/>
          <p:nvPr/>
        </p:nvSpPr>
        <p:spPr>
          <a:xfrm>
            <a:off x="4581144" y="193852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PROPULSION · I²C 2</a:t>
            </a:r>
            <a:endParaRPr lang="fr-FR" sz="800"/>
          </a:p>
        </p:txBody>
      </p:sp>
      <p:sp>
        <p:nvSpPr>
          <p:cNvPr id="20" name="Texte"/>
          <p:cNvSpPr txBox="1"/>
          <p:nvPr/>
        </p:nvSpPr>
        <p:spPr>
          <a:xfrm>
            <a:off x="4581144" y="2194560"/>
            <a:ext cx="308152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Arduino Nano  ·  Moteurs continus ×2 / Servo de direction</a:t>
            </a:r>
            <a:endParaRPr lang="fr-FR" sz="900"/>
          </a:p>
        </p:txBody>
      </p:sp>
      <p:sp>
        <p:nvSpPr>
          <p:cNvPr id="21" name="Panneau"/>
          <p:cNvSpPr/>
          <p:nvPr/>
        </p:nvSpPr>
        <p:spPr>
          <a:xfrm>
            <a:off x="8156448" y="1783080"/>
            <a:ext cx="352958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2" name="Texte"/>
          <p:cNvSpPr txBox="1"/>
          <p:nvPr/>
        </p:nvSpPr>
        <p:spPr>
          <a:xfrm>
            <a:off x="8348472" y="193852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TOURELLE · I²C 1</a:t>
            </a:r>
            <a:endParaRPr lang="fr-FR" sz="800"/>
          </a:p>
        </p:txBody>
      </p:sp>
      <p:sp>
        <p:nvSpPr>
          <p:cNvPr id="23" name="Texte"/>
          <p:cNvSpPr txBox="1"/>
          <p:nvPr/>
        </p:nvSpPr>
        <p:spPr>
          <a:xfrm>
            <a:off x="8348472" y="2194560"/>
            <a:ext cx="308152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Arduino Nano  ·  Servo azimut / Servo élévation</a:t>
            </a:r>
            <a:endParaRPr lang="fr-FR" sz="900"/>
          </a:p>
        </p:txBody>
      </p:sp>
      <p:sp>
        <p:nvSpPr>
          <p:cNvPr id="24" name="Panneau"/>
          <p:cNvSpPr/>
          <p:nvPr/>
        </p:nvSpPr>
        <p:spPr>
          <a:xfrm>
            <a:off x="621792" y="2971800"/>
            <a:ext cx="53309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5" name="Texte"/>
          <p:cNvSpPr txBox="1"/>
          <p:nvPr/>
        </p:nvSpPr>
        <p:spPr>
          <a:xfrm>
            <a:off x="877824" y="321868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PROPULSION</a:t>
            </a:r>
            <a:endParaRPr lang="fr-FR" sz="800"/>
          </a:p>
        </p:txBody>
      </p:sp>
      <p:sp>
        <p:nvSpPr>
          <p:cNvPr id="26" name="Texte"/>
          <p:cNvSpPr txBox="1"/>
          <p:nvPr/>
        </p:nvSpPr>
        <p:spPr>
          <a:xfrm>
            <a:off x="896112" y="3648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Moteur gauche</a:t>
            </a:r>
            <a:endParaRPr lang="fr-FR" sz="1000"/>
          </a:p>
        </p:txBody>
      </p:sp>
      <p:sp>
        <p:nvSpPr>
          <p:cNvPr id="27" name="Texte"/>
          <p:cNvSpPr txBox="1"/>
          <p:nvPr/>
        </p:nvSpPr>
        <p:spPr>
          <a:xfrm>
            <a:off x="3703320" y="3648456"/>
            <a:ext cx="181965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10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DIR 9  ·  PWM 3</a:t>
            </a:r>
            <a:endParaRPr lang="fr-FR" sz="1000"/>
          </a:p>
        </p:txBody>
      </p:sp>
      <p:sp>
        <p:nvSpPr>
          <p:cNvPr id="28" name="Ligne"/>
          <p:cNvSpPr/>
          <p:nvPr/>
        </p:nvSpPr>
        <p:spPr>
          <a:xfrm>
            <a:off x="886968" y="3959352"/>
            <a:ext cx="4818888" cy="9144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29" name="Texte"/>
          <p:cNvSpPr txBox="1"/>
          <p:nvPr/>
        </p:nvSpPr>
        <p:spPr>
          <a:xfrm>
            <a:off x="896112" y="404164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Moteur droit</a:t>
            </a:r>
            <a:endParaRPr lang="fr-FR" sz="1000"/>
          </a:p>
        </p:txBody>
      </p:sp>
      <p:sp>
        <p:nvSpPr>
          <p:cNvPr id="30" name="Texte"/>
          <p:cNvSpPr txBox="1"/>
          <p:nvPr/>
        </p:nvSpPr>
        <p:spPr>
          <a:xfrm>
            <a:off x="3703320" y="4041648"/>
            <a:ext cx="181965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10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DIR 12  ·  PWM 5</a:t>
            </a:r>
            <a:endParaRPr lang="fr-FR" sz="1000"/>
          </a:p>
        </p:txBody>
      </p:sp>
      <p:sp>
        <p:nvSpPr>
          <p:cNvPr id="31" name="Ligne"/>
          <p:cNvSpPr/>
          <p:nvPr/>
        </p:nvSpPr>
        <p:spPr>
          <a:xfrm>
            <a:off x="886968" y="4352544"/>
            <a:ext cx="4818888" cy="9144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32" name="Texte"/>
          <p:cNvSpPr txBox="1"/>
          <p:nvPr/>
        </p:nvSpPr>
        <p:spPr>
          <a:xfrm>
            <a:off x="896112" y="443484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Servo direction</a:t>
            </a:r>
            <a:endParaRPr lang="fr-FR" sz="1000"/>
          </a:p>
        </p:txBody>
      </p:sp>
      <p:sp>
        <p:nvSpPr>
          <p:cNvPr id="33" name="Texte"/>
          <p:cNvSpPr txBox="1"/>
          <p:nvPr/>
        </p:nvSpPr>
        <p:spPr>
          <a:xfrm>
            <a:off x="3703320" y="4434840"/>
            <a:ext cx="181965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10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14</a:t>
            </a:r>
            <a:endParaRPr lang="fr-FR" sz="1000"/>
          </a:p>
        </p:txBody>
      </p:sp>
      <p:sp>
        <p:nvSpPr>
          <p:cNvPr id="34" name="Ligne"/>
          <p:cNvSpPr/>
          <p:nvPr/>
        </p:nvSpPr>
        <p:spPr>
          <a:xfrm>
            <a:off x="886968" y="4745736"/>
            <a:ext cx="4818888" cy="9144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35" name="Texte"/>
          <p:cNvSpPr txBox="1"/>
          <p:nvPr/>
        </p:nvSpPr>
        <p:spPr>
          <a:xfrm>
            <a:off x="896112" y="482803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LED état OK / erreur</a:t>
            </a:r>
            <a:endParaRPr lang="fr-FR" sz="1000"/>
          </a:p>
        </p:txBody>
      </p:sp>
      <p:sp>
        <p:nvSpPr>
          <p:cNvPr id="36" name="Texte"/>
          <p:cNvSpPr txBox="1"/>
          <p:nvPr/>
        </p:nvSpPr>
        <p:spPr>
          <a:xfrm>
            <a:off x="3703320" y="4828032"/>
            <a:ext cx="181965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10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16 / 15</a:t>
            </a:r>
            <a:endParaRPr lang="fr-FR" sz="1000"/>
          </a:p>
        </p:txBody>
      </p:sp>
      <p:sp>
        <p:nvSpPr>
          <p:cNvPr id="37" name="Panneau"/>
          <p:cNvSpPr/>
          <p:nvPr/>
        </p:nvSpPr>
        <p:spPr>
          <a:xfrm>
            <a:off x="6227064" y="2971800"/>
            <a:ext cx="524865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8" name="Texte"/>
          <p:cNvSpPr txBox="1"/>
          <p:nvPr/>
        </p:nvSpPr>
        <p:spPr>
          <a:xfrm>
            <a:off x="6483096" y="321868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TOURELLE</a:t>
            </a:r>
            <a:endParaRPr lang="fr-FR" sz="800"/>
          </a:p>
        </p:txBody>
      </p:sp>
      <p:sp>
        <p:nvSpPr>
          <p:cNvPr id="39" name="Texte"/>
          <p:cNvSpPr txBox="1"/>
          <p:nvPr/>
        </p:nvSpPr>
        <p:spPr>
          <a:xfrm>
            <a:off x="6501384" y="364845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Servo azimut</a:t>
            </a:r>
            <a:endParaRPr lang="fr-FR" sz="1000"/>
          </a:p>
        </p:txBody>
      </p:sp>
      <p:sp>
        <p:nvSpPr>
          <p:cNvPr id="40" name="Texte"/>
          <p:cNvSpPr txBox="1"/>
          <p:nvPr/>
        </p:nvSpPr>
        <p:spPr>
          <a:xfrm>
            <a:off x="9162288" y="3648456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14</a:t>
            </a:r>
            <a:endParaRPr lang="fr-FR" sz="900"/>
          </a:p>
        </p:txBody>
      </p:sp>
      <p:sp>
        <p:nvSpPr>
          <p:cNvPr id="41" name="Ligne"/>
          <p:cNvSpPr/>
          <p:nvPr/>
        </p:nvSpPr>
        <p:spPr>
          <a:xfrm>
            <a:off x="6492240" y="3959352"/>
            <a:ext cx="4718304" cy="9144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42" name="Texte"/>
          <p:cNvSpPr txBox="1"/>
          <p:nvPr/>
        </p:nvSpPr>
        <p:spPr>
          <a:xfrm>
            <a:off x="6501384" y="404164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Servo élévation</a:t>
            </a:r>
            <a:endParaRPr lang="fr-FR" sz="1000"/>
          </a:p>
        </p:txBody>
      </p:sp>
      <p:sp>
        <p:nvSpPr>
          <p:cNvPr id="43" name="Texte"/>
          <p:cNvSpPr txBox="1"/>
          <p:nvPr/>
        </p:nvSpPr>
        <p:spPr>
          <a:xfrm>
            <a:off x="9162288" y="4041648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13</a:t>
            </a:r>
            <a:endParaRPr lang="fr-FR" sz="900"/>
          </a:p>
        </p:txBody>
      </p:sp>
      <p:sp>
        <p:nvSpPr>
          <p:cNvPr id="44" name="Ligne"/>
          <p:cNvSpPr/>
          <p:nvPr/>
        </p:nvSpPr>
        <p:spPr>
          <a:xfrm>
            <a:off x="6492240" y="4352544"/>
            <a:ext cx="4718304" cy="9144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45" name="Texte"/>
          <p:cNvSpPr txBox="1"/>
          <p:nvPr/>
        </p:nvSpPr>
        <p:spPr>
          <a:xfrm>
            <a:off x="6501384" y="443484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LED état OK / erreur</a:t>
            </a:r>
            <a:endParaRPr lang="fr-FR" sz="1000"/>
          </a:p>
        </p:txBody>
      </p:sp>
      <p:sp>
        <p:nvSpPr>
          <p:cNvPr id="46" name="Texte"/>
          <p:cNvSpPr txBox="1"/>
          <p:nvPr/>
        </p:nvSpPr>
        <p:spPr>
          <a:xfrm>
            <a:off x="9162288" y="4434840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6 / 5</a:t>
            </a:r>
            <a:endParaRPr lang="fr-FR" sz="900"/>
          </a:p>
        </p:txBody>
      </p:sp>
      <p:sp>
        <p:nvSpPr>
          <p:cNvPr id="47" name="Ligne"/>
          <p:cNvSpPr/>
          <p:nvPr/>
        </p:nvSpPr>
        <p:spPr>
          <a:xfrm>
            <a:off x="6492240" y="4745736"/>
            <a:ext cx="4718304" cy="9144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48" name="Texte"/>
          <p:cNvSpPr txBox="1"/>
          <p:nvPr/>
        </p:nvSpPr>
        <p:spPr>
          <a:xfrm>
            <a:off x="6501384" y="482803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Son / fumée</a:t>
            </a:r>
            <a:endParaRPr lang="fr-FR" sz="1000"/>
          </a:p>
        </p:txBody>
      </p:sp>
      <p:sp>
        <p:nvSpPr>
          <p:cNvPr id="49" name="Texte"/>
          <p:cNvSpPr txBox="1"/>
          <p:nvPr/>
        </p:nvSpPr>
        <p:spPr>
          <a:xfrm>
            <a:off x="9162288" y="482803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réservés, non implémentés</a:t>
            </a:r>
            <a:endParaRPr lang="fr-FR" sz="900"/>
          </a:p>
        </p:txBody>
      </p:sp>
      <p:sp>
        <p:nvSpPr>
          <p:cNvPr id="50" name="Panneau"/>
          <p:cNvSpPr/>
          <p:nvPr/>
        </p:nvSpPr>
        <p:spPr>
          <a:xfrm>
            <a:off x="621792" y="5632704"/>
            <a:ext cx="10853928" cy="493776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F0D4A6"/>
            </a:solidFill>
          </a:ln>
        </p:spPr>
      </p:sp>
      <p:sp>
        <p:nvSpPr>
          <p:cNvPr id="51" name="Texte"/>
          <p:cNvSpPr txBox="1"/>
          <p:nvPr/>
        </p:nvSpPr>
        <p:spPr>
          <a:xfrm>
            <a:off x="832104" y="5769864"/>
            <a:ext cx="104241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795016"/>
                </a:solidFill>
                <a:latin typeface="Aptos"/>
                <a:ea typeface="Aptos"/>
                <a:cs typeface="Aptos"/>
              </a:rPr>
              <a:t xml:space="preserve">Sécurité électrique : masse commune, niveaux logiques compatibles, tirages I²C adaptés et alimentation moteurs dédiée.</a:t>
            </a:r>
            <a:endParaRPr lang="fr-FR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ÉCHANGES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Protocole de commande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08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8800186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Texte"/>
          <p:cNvSpPr txBox="1"/>
          <p:nvPr/>
        </p:nvSpPr>
        <p:spPr>
          <a:xfrm>
            <a:off x="621792" y="1389888"/>
            <a:ext cx="10515600" cy="24688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Format : module,commande,paramètres…,255  ·  trame WebSocket terminée par CRLF</a:t>
            </a:r>
            <a:endParaRPr lang="fr-FR" sz="1100"/>
          </a:p>
        </p:txBody>
      </p:sp>
      <p:sp>
        <p:nvSpPr>
          <p:cNvPr id="15" name="Forme"/>
          <p:cNvSpPr/>
          <p:nvPr/>
        </p:nvSpPr>
        <p:spPr>
          <a:xfrm>
            <a:off x="640080" y="1810512"/>
            <a:ext cx="8970264" cy="438912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16" name="Texte"/>
          <p:cNvSpPr txBox="1"/>
          <p:nvPr/>
        </p:nvSpPr>
        <p:spPr>
          <a:xfrm>
            <a:off x="749808" y="1929384"/>
            <a:ext cx="52120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MODULE</a:t>
            </a:r>
            <a:endParaRPr lang="fr-FR" sz="700"/>
          </a:p>
        </p:txBody>
      </p:sp>
      <p:sp>
        <p:nvSpPr>
          <p:cNvPr id="17" name="Texte"/>
          <p:cNvSpPr txBox="1"/>
          <p:nvPr/>
        </p:nvSpPr>
        <p:spPr>
          <a:xfrm>
            <a:off x="1453896" y="1929384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CODE</a:t>
            </a:r>
            <a:endParaRPr lang="fr-FR" sz="700"/>
          </a:p>
        </p:txBody>
      </p:sp>
      <p:sp>
        <p:nvSpPr>
          <p:cNvPr id="18" name="Texte"/>
          <p:cNvSpPr txBox="1"/>
          <p:nvPr/>
        </p:nvSpPr>
        <p:spPr>
          <a:xfrm>
            <a:off x="2258568" y="1929384"/>
            <a:ext cx="440740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FONCTION</a:t>
            </a:r>
            <a:endParaRPr lang="fr-FR" sz="700"/>
          </a:p>
        </p:txBody>
      </p:sp>
      <p:sp>
        <p:nvSpPr>
          <p:cNvPr id="19" name="Texte"/>
          <p:cNvSpPr txBox="1"/>
          <p:nvPr/>
        </p:nvSpPr>
        <p:spPr>
          <a:xfrm>
            <a:off x="6848856" y="1929384"/>
            <a:ext cx="2688336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PARAMÈTRES VALIDÉS</a:t>
            </a:r>
            <a:endParaRPr lang="fr-FR" sz="700"/>
          </a:p>
        </p:txBody>
      </p:sp>
      <p:sp>
        <p:nvSpPr>
          <p:cNvPr id="20" name="Forme"/>
          <p:cNvSpPr/>
          <p:nvPr/>
        </p:nvSpPr>
        <p:spPr>
          <a:xfrm>
            <a:off x="640080" y="2267712"/>
            <a:ext cx="89702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1" name="Texte"/>
          <p:cNvSpPr txBox="1"/>
          <p:nvPr/>
        </p:nvSpPr>
        <p:spPr>
          <a:xfrm>
            <a:off x="749808" y="2368296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</a:t>
            </a:r>
            <a:endParaRPr lang="fr-FR" sz="900"/>
          </a:p>
        </p:txBody>
      </p:sp>
      <p:sp>
        <p:nvSpPr>
          <p:cNvPr id="22" name="Texte"/>
          <p:cNvSpPr txBox="1"/>
          <p:nvPr/>
        </p:nvSpPr>
        <p:spPr>
          <a:xfrm>
            <a:off x="1453896" y="2368296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4</a:t>
            </a:r>
            <a:endParaRPr lang="fr-FR" sz="900"/>
          </a:p>
        </p:txBody>
      </p:sp>
      <p:sp>
        <p:nvSpPr>
          <p:cNvPr id="23" name="Texte"/>
          <p:cNvSpPr txBox="1"/>
          <p:nvPr/>
        </p:nvSpPr>
        <p:spPr>
          <a:xfrm>
            <a:off x="2258568" y="2368296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Tourelle · azimut + élévation</a:t>
            </a:r>
            <a:endParaRPr lang="fr-FR" sz="900"/>
          </a:p>
        </p:txBody>
      </p:sp>
      <p:sp>
        <p:nvSpPr>
          <p:cNvPr id="24" name="Texte"/>
          <p:cNvSpPr txBox="1"/>
          <p:nvPr/>
        </p:nvSpPr>
        <p:spPr>
          <a:xfrm>
            <a:off x="6848856" y="2368296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0–180° / 0–60°</a:t>
            </a:r>
            <a:endParaRPr lang="fr-FR" sz="900"/>
          </a:p>
        </p:txBody>
      </p:sp>
      <p:sp>
        <p:nvSpPr>
          <p:cNvPr id="25" name="Forme"/>
          <p:cNvSpPr/>
          <p:nvPr/>
        </p:nvSpPr>
        <p:spPr>
          <a:xfrm>
            <a:off x="640080" y="2660904"/>
            <a:ext cx="8970264" cy="384048"/>
          </a:xfrm>
          <a:prstGeom prst="rect">
            <a:avLst/>
          </a:prstGeom>
          <a:solidFill>
            <a:srgbClr val="F7F9FB"/>
          </a:solidFill>
          <a:ln w="12700">
            <a:solidFill>
              <a:srgbClr val="E1E8EF"/>
            </a:solidFill>
          </a:ln>
        </p:spPr>
      </p:sp>
      <p:sp>
        <p:nvSpPr>
          <p:cNvPr id="26" name="Texte"/>
          <p:cNvSpPr txBox="1"/>
          <p:nvPr/>
        </p:nvSpPr>
        <p:spPr>
          <a:xfrm>
            <a:off x="749808" y="2761488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900"/>
          </a:p>
        </p:txBody>
      </p:sp>
      <p:sp>
        <p:nvSpPr>
          <p:cNvPr id="27" name="Texte"/>
          <p:cNvSpPr txBox="1"/>
          <p:nvPr/>
        </p:nvSpPr>
        <p:spPr>
          <a:xfrm>
            <a:off x="1453896" y="2761488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12</a:t>
            </a:r>
            <a:endParaRPr lang="fr-FR" sz="900"/>
          </a:p>
        </p:txBody>
      </p:sp>
      <p:sp>
        <p:nvSpPr>
          <p:cNvPr id="28" name="Texte"/>
          <p:cNvSpPr txBox="1"/>
          <p:nvPr/>
        </p:nvSpPr>
        <p:spPr>
          <a:xfrm>
            <a:off x="2258568" y="27614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Propulsion · marche avant</a:t>
            </a:r>
            <a:endParaRPr lang="fr-FR" sz="900"/>
          </a:p>
        </p:txBody>
      </p:sp>
      <p:sp>
        <p:nvSpPr>
          <p:cNvPr id="29" name="Texte"/>
          <p:cNvSpPr txBox="1"/>
          <p:nvPr/>
        </p:nvSpPr>
        <p:spPr>
          <a:xfrm>
            <a:off x="6848856" y="2761488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0–100 %</a:t>
            </a:r>
            <a:endParaRPr lang="fr-FR" sz="900"/>
          </a:p>
        </p:txBody>
      </p:sp>
      <p:sp>
        <p:nvSpPr>
          <p:cNvPr id="30" name="Forme"/>
          <p:cNvSpPr/>
          <p:nvPr/>
        </p:nvSpPr>
        <p:spPr>
          <a:xfrm>
            <a:off x="640080" y="3054096"/>
            <a:ext cx="89702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1" name="Texte"/>
          <p:cNvSpPr txBox="1"/>
          <p:nvPr/>
        </p:nvSpPr>
        <p:spPr>
          <a:xfrm>
            <a:off x="749808" y="3154680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900"/>
          </a:p>
        </p:txBody>
      </p:sp>
      <p:sp>
        <p:nvSpPr>
          <p:cNvPr id="32" name="Texte"/>
          <p:cNvSpPr txBox="1"/>
          <p:nvPr/>
        </p:nvSpPr>
        <p:spPr>
          <a:xfrm>
            <a:off x="1453896" y="3154680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13</a:t>
            </a:r>
            <a:endParaRPr lang="fr-FR" sz="900"/>
          </a:p>
        </p:txBody>
      </p:sp>
      <p:sp>
        <p:nvSpPr>
          <p:cNvPr id="33" name="Texte"/>
          <p:cNvSpPr txBox="1"/>
          <p:nvPr/>
        </p:nvSpPr>
        <p:spPr>
          <a:xfrm>
            <a:off x="2258568" y="3154680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Propulsion · marche arrière</a:t>
            </a:r>
            <a:endParaRPr lang="fr-FR" sz="900"/>
          </a:p>
        </p:txBody>
      </p:sp>
      <p:sp>
        <p:nvSpPr>
          <p:cNvPr id="34" name="Texte"/>
          <p:cNvSpPr txBox="1"/>
          <p:nvPr/>
        </p:nvSpPr>
        <p:spPr>
          <a:xfrm>
            <a:off x="6848856" y="3154680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0–100 %</a:t>
            </a:r>
            <a:endParaRPr lang="fr-FR" sz="900"/>
          </a:p>
        </p:txBody>
      </p:sp>
      <p:sp>
        <p:nvSpPr>
          <p:cNvPr id="35" name="Forme"/>
          <p:cNvSpPr/>
          <p:nvPr/>
        </p:nvSpPr>
        <p:spPr>
          <a:xfrm>
            <a:off x="640080" y="3447288"/>
            <a:ext cx="8970264" cy="384048"/>
          </a:xfrm>
          <a:prstGeom prst="rect">
            <a:avLst/>
          </a:prstGeom>
          <a:solidFill>
            <a:srgbClr val="F7F9FB"/>
          </a:solidFill>
          <a:ln w="12700">
            <a:solidFill>
              <a:srgbClr val="E1E8EF"/>
            </a:solidFill>
          </a:ln>
        </p:spPr>
      </p:sp>
      <p:sp>
        <p:nvSpPr>
          <p:cNvPr id="36" name="Texte"/>
          <p:cNvSpPr txBox="1"/>
          <p:nvPr/>
        </p:nvSpPr>
        <p:spPr>
          <a:xfrm>
            <a:off x="749808" y="3547872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900"/>
          </a:p>
        </p:txBody>
      </p:sp>
      <p:sp>
        <p:nvSpPr>
          <p:cNvPr id="37" name="Texte"/>
          <p:cNvSpPr txBox="1"/>
          <p:nvPr/>
        </p:nvSpPr>
        <p:spPr>
          <a:xfrm>
            <a:off x="1453896" y="3547872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14</a:t>
            </a:r>
            <a:endParaRPr lang="fr-FR" sz="900"/>
          </a:p>
        </p:txBody>
      </p:sp>
      <p:sp>
        <p:nvSpPr>
          <p:cNvPr id="38" name="Texte"/>
          <p:cNvSpPr txBox="1"/>
          <p:nvPr/>
        </p:nvSpPr>
        <p:spPr>
          <a:xfrm>
            <a:off x="2258568" y="3547872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Propulsion · arrêt moteur</a:t>
            </a:r>
            <a:endParaRPr lang="fr-FR" sz="900"/>
          </a:p>
        </p:txBody>
      </p:sp>
      <p:sp>
        <p:nvSpPr>
          <p:cNvPr id="39" name="Texte"/>
          <p:cNvSpPr txBox="1"/>
          <p:nvPr/>
        </p:nvSpPr>
        <p:spPr>
          <a:xfrm>
            <a:off x="6848856" y="3547872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aucun</a:t>
            </a:r>
            <a:endParaRPr lang="fr-FR" sz="900"/>
          </a:p>
        </p:txBody>
      </p:sp>
      <p:sp>
        <p:nvSpPr>
          <p:cNvPr id="40" name="Forme"/>
          <p:cNvSpPr/>
          <p:nvPr/>
        </p:nvSpPr>
        <p:spPr>
          <a:xfrm>
            <a:off x="640080" y="3840480"/>
            <a:ext cx="89702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41" name="Texte"/>
          <p:cNvSpPr txBox="1"/>
          <p:nvPr/>
        </p:nvSpPr>
        <p:spPr>
          <a:xfrm>
            <a:off x="749808" y="3941064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900"/>
          </a:p>
        </p:txBody>
      </p:sp>
      <p:sp>
        <p:nvSpPr>
          <p:cNvPr id="42" name="Texte"/>
          <p:cNvSpPr txBox="1"/>
          <p:nvPr/>
        </p:nvSpPr>
        <p:spPr>
          <a:xfrm>
            <a:off x="1453896" y="3941064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15</a:t>
            </a:r>
            <a:endParaRPr lang="fr-FR" sz="900"/>
          </a:p>
        </p:txBody>
      </p:sp>
      <p:sp>
        <p:nvSpPr>
          <p:cNvPr id="43" name="Texte"/>
          <p:cNvSpPr txBox="1"/>
          <p:nvPr/>
        </p:nvSpPr>
        <p:spPr>
          <a:xfrm>
            <a:off x="2258568" y="3941064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Direction · tribord</a:t>
            </a:r>
            <a:endParaRPr lang="fr-FR" sz="900"/>
          </a:p>
        </p:txBody>
      </p:sp>
      <p:sp>
        <p:nvSpPr>
          <p:cNvPr id="44" name="Texte"/>
          <p:cNvSpPr txBox="1"/>
          <p:nvPr/>
        </p:nvSpPr>
        <p:spPr>
          <a:xfrm>
            <a:off x="6848856" y="3941064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0–90°</a:t>
            </a:r>
            <a:endParaRPr lang="fr-FR" sz="900"/>
          </a:p>
        </p:txBody>
      </p:sp>
      <p:sp>
        <p:nvSpPr>
          <p:cNvPr id="45" name="Forme"/>
          <p:cNvSpPr/>
          <p:nvPr/>
        </p:nvSpPr>
        <p:spPr>
          <a:xfrm>
            <a:off x="640080" y="4233672"/>
            <a:ext cx="8970264" cy="384048"/>
          </a:xfrm>
          <a:prstGeom prst="rect">
            <a:avLst/>
          </a:prstGeom>
          <a:solidFill>
            <a:srgbClr val="F7F9FB"/>
          </a:solidFill>
          <a:ln w="12700">
            <a:solidFill>
              <a:srgbClr val="E1E8EF"/>
            </a:solidFill>
          </a:ln>
        </p:spPr>
      </p:sp>
      <p:sp>
        <p:nvSpPr>
          <p:cNvPr id="46" name="Texte"/>
          <p:cNvSpPr txBox="1"/>
          <p:nvPr/>
        </p:nvSpPr>
        <p:spPr>
          <a:xfrm>
            <a:off x="749808" y="4334256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900"/>
          </a:p>
        </p:txBody>
      </p:sp>
      <p:sp>
        <p:nvSpPr>
          <p:cNvPr id="47" name="Texte"/>
          <p:cNvSpPr txBox="1"/>
          <p:nvPr/>
        </p:nvSpPr>
        <p:spPr>
          <a:xfrm>
            <a:off x="1453896" y="4334256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16</a:t>
            </a:r>
            <a:endParaRPr lang="fr-FR" sz="900"/>
          </a:p>
        </p:txBody>
      </p:sp>
      <p:sp>
        <p:nvSpPr>
          <p:cNvPr id="48" name="Texte"/>
          <p:cNvSpPr txBox="1"/>
          <p:nvPr/>
        </p:nvSpPr>
        <p:spPr>
          <a:xfrm>
            <a:off x="2258568" y="4334256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Direction · bâbord</a:t>
            </a:r>
            <a:endParaRPr lang="fr-FR" sz="900"/>
          </a:p>
        </p:txBody>
      </p:sp>
      <p:sp>
        <p:nvSpPr>
          <p:cNvPr id="49" name="Texte"/>
          <p:cNvSpPr txBox="1"/>
          <p:nvPr/>
        </p:nvSpPr>
        <p:spPr>
          <a:xfrm>
            <a:off x="6848856" y="4334256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0–90°</a:t>
            </a:r>
            <a:endParaRPr lang="fr-FR" sz="900"/>
          </a:p>
        </p:txBody>
      </p:sp>
      <p:sp>
        <p:nvSpPr>
          <p:cNvPr id="50" name="Forme"/>
          <p:cNvSpPr/>
          <p:nvPr/>
        </p:nvSpPr>
        <p:spPr>
          <a:xfrm>
            <a:off x="640080" y="4626864"/>
            <a:ext cx="89702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51" name="Texte"/>
          <p:cNvSpPr txBox="1"/>
          <p:nvPr/>
        </p:nvSpPr>
        <p:spPr>
          <a:xfrm>
            <a:off x="749808" y="4727448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900"/>
          </a:p>
        </p:txBody>
      </p:sp>
      <p:sp>
        <p:nvSpPr>
          <p:cNvPr id="52" name="Texte"/>
          <p:cNvSpPr txBox="1"/>
          <p:nvPr/>
        </p:nvSpPr>
        <p:spPr>
          <a:xfrm>
            <a:off x="1453896" y="4727448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17</a:t>
            </a:r>
            <a:endParaRPr lang="fr-FR" sz="900"/>
          </a:p>
        </p:txBody>
      </p:sp>
      <p:sp>
        <p:nvSpPr>
          <p:cNvPr id="53" name="Texte"/>
          <p:cNvSpPr txBox="1"/>
          <p:nvPr/>
        </p:nvSpPr>
        <p:spPr>
          <a:xfrm>
            <a:off x="2258568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Direction · recentrage</a:t>
            </a:r>
            <a:endParaRPr lang="fr-FR" sz="900"/>
          </a:p>
        </p:txBody>
      </p:sp>
      <p:sp>
        <p:nvSpPr>
          <p:cNvPr id="54" name="Texte"/>
          <p:cNvSpPr txBox="1"/>
          <p:nvPr/>
        </p:nvSpPr>
        <p:spPr>
          <a:xfrm>
            <a:off x="6848856" y="4727448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aucun</a:t>
            </a:r>
            <a:endParaRPr lang="fr-FR" sz="900"/>
          </a:p>
        </p:txBody>
      </p:sp>
      <p:sp>
        <p:nvSpPr>
          <p:cNvPr id="55" name="Forme"/>
          <p:cNvSpPr/>
          <p:nvPr/>
        </p:nvSpPr>
        <p:spPr>
          <a:xfrm>
            <a:off x="640080" y="5020056"/>
            <a:ext cx="8970264" cy="384048"/>
          </a:xfrm>
          <a:prstGeom prst="rect">
            <a:avLst/>
          </a:prstGeom>
          <a:solidFill>
            <a:srgbClr val="F7F9FB"/>
          </a:solidFill>
          <a:ln w="12700">
            <a:solidFill>
              <a:srgbClr val="E1E8EF"/>
            </a:solidFill>
          </a:ln>
        </p:spPr>
      </p:sp>
      <p:sp>
        <p:nvSpPr>
          <p:cNvPr id="56" name="Texte"/>
          <p:cNvSpPr txBox="1"/>
          <p:nvPr/>
        </p:nvSpPr>
        <p:spPr>
          <a:xfrm>
            <a:off x="749808" y="5120640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fr-FR" sz="900"/>
          </a:p>
        </p:txBody>
      </p:sp>
      <p:sp>
        <p:nvSpPr>
          <p:cNvPr id="57" name="Texte"/>
          <p:cNvSpPr txBox="1"/>
          <p:nvPr/>
        </p:nvSpPr>
        <p:spPr>
          <a:xfrm>
            <a:off x="1453896" y="5120640"/>
            <a:ext cx="60350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18</a:t>
            </a:r>
            <a:endParaRPr lang="fr-FR" sz="900"/>
          </a:p>
        </p:txBody>
      </p:sp>
      <p:sp>
        <p:nvSpPr>
          <p:cNvPr id="58" name="Texte"/>
          <p:cNvSpPr txBox="1"/>
          <p:nvPr/>
        </p:nvSpPr>
        <p:spPr>
          <a:xfrm>
            <a:off x="2258568" y="5120640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Propulsion · réactivité</a:t>
            </a:r>
            <a:endParaRPr lang="fr-FR" sz="900"/>
          </a:p>
        </p:txBody>
      </p:sp>
      <p:sp>
        <p:nvSpPr>
          <p:cNvPr id="59" name="Texte"/>
          <p:cNvSpPr txBox="1"/>
          <p:nvPr/>
        </p:nvSpPr>
        <p:spPr>
          <a:xfrm>
            <a:off x="6848856" y="5120640"/>
            <a:ext cx="26700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niveau 0–5</a:t>
            </a:r>
            <a:endParaRPr lang="fr-FR" sz="900"/>
          </a:p>
        </p:txBody>
      </p:sp>
      <p:sp>
        <p:nvSpPr>
          <p:cNvPr id="60" name="Panneau"/>
          <p:cNvSpPr/>
          <p:nvPr/>
        </p:nvSpPr>
        <p:spPr>
          <a:xfrm>
            <a:off x="640080" y="5477256"/>
            <a:ext cx="5184648" cy="64008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D5E5EF"/>
            </a:solidFill>
          </a:ln>
        </p:spPr>
      </p:sp>
      <p:sp>
        <p:nvSpPr>
          <p:cNvPr id="61" name="Texte"/>
          <p:cNvSpPr txBox="1"/>
          <p:nvPr/>
        </p:nvSpPr>
        <p:spPr>
          <a:xfrm>
            <a:off x="859536" y="5614416"/>
            <a:ext cx="470916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Exemple propulsion  ·  2,12,60,255\r\nExemple tourelle  ·  1,4,120,25,255</a:t>
            </a:r>
            <a:endParaRPr lang="fr-FR" sz="900"/>
          </a:p>
        </p:txBody>
      </p:sp>
      <p:sp>
        <p:nvSpPr>
          <p:cNvPr id="62" name="Panneau"/>
          <p:cNvSpPr/>
          <p:nvPr/>
        </p:nvSpPr>
        <p:spPr>
          <a:xfrm>
            <a:off x="6080760" y="5477256"/>
            <a:ext cx="5404104" cy="64008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D2E8D9"/>
            </a:solidFill>
          </a:ln>
        </p:spPr>
      </p:sp>
      <p:sp>
        <p:nvSpPr>
          <p:cNvPr id="63" name="Texte"/>
          <p:cNvSpPr txBox="1"/>
          <p:nvPr/>
        </p:nvSpPr>
        <p:spPr>
          <a:xfrm>
            <a:off x="6309360" y="5614416"/>
            <a:ext cx="4882896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3835B"/>
                </a:solidFill>
                <a:latin typeface="Aptos"/>
                <a:ea typeface="Aptos"/>
                <a:cs typeface="Aptos"/>
              </a:rPr>
              <a:t xml:space="preserve">Le central rejette commandes inconnues, champs mal formés et valeurs hors plage avant l'envoi I²C.</a:t>
            </a:r>
            <a:endParaRPr lang="fr-FR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INTERFACE LOGICIELLE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Écrans de l’application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09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9900209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Panneau"/>
          <p:cNvSpPr/>
          <p:nvPr/>
        </p:nvSpPr>
        <p:spPr>
          <a:xfrm>
            <a:off x="640080" y="1581912"/>
            <a:ext cx="5376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5" name="Texte"/>
          <p:cNvSpPr txBox="1"/>
          <p:nvPr/>
        </p:nvSpPr>
        <p:spPr>
          <a:xfrm>
            <a:off x="813816" y="169164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01 · ACCÈS</a:t>
            </a:r>
            <a:endParaRPr lang="fr-FR" sz="800"/>
          </a:p>
        </p:txBody>
      </p:sp>
      <p:sp>
        <p:nvSpPr>
          <p:cNvPr id="16" name="Texte"/>
          <p:cNvSpPr txBox="1"/>
          <p:nvPr/>
        </p:nvSpPr>
        <p:spPr>
          <a:xfrm>
            <a:off x="813816" y="19202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Connexion</a:t>
            </a:r>
            <a:endParaRPr lang="fr-FR" sz="1100"/>
          </a:p>
        </p:txBody>
      </p:sp>
      <p:sp>
        <p:nvSpPr>
          <p:cNvPr id="17" name="Texte"/>
          <p:cNvSpPr txBox="1"/>
          <p:nvPr/>
        </p:nvSpPr>
        <p:spPr>
          <a:xfrm>
            <a:off x="3081528" y="1865376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Formulaire visuel; pas d'authentification effective.</a:t>
            </a:r>
            <a:endParaRPr lang="fr-FR" sz="800"/>
          </a:p>
        </p:txBody>
      </p:sp>
      <p:sp>
        <p:nvSpPr>
          <p:cNvPr id="18" name="Panneau"/>
          <p:cNvSpPr/>
          <p:nvPr/>
        </p:nvSpPr>
        <p:spPr>
          <a:xfrm>
            <a:off x="6263640" y="1581912"/>
            <a:ext cx="5376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9" name="Texte"/>
          <p:cNvSpPr txBox="1"/>
          <p:nvPr/>
        </p:nvSpPr>
        <p:spPr>
          <a:xfrm>
            <a:off x="6437376" y="169164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02 · PILOTAGE</a:t>
            </a:r>
            <a:endParaRPr lang="fr-FR" sz="800"/>
          </a:p>
        </p:txBody>
      </p:sp>
      <p:sp>
        <p:nvSpPr>
          <p:cNvPr id="20" name="Texte"/>
          <p:cNvSpPr txBox="1"/>
          <p:nvPr/>
        </p:nvSpPr>
        <p:spPr>
          <a:xfrm>
            <a:off x="6437376" y="19202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Tableau de bord</a:t>
            </a:r>
            <a:endParaRPr lang="fr-FR" sz="1100"/>
          </a:p>
        </p:txBody>
      </p:sp>
      <p:sp>
        <p:nvSpPr>
          <p:cNvPr id="21" name="Texte"/>
          <p:cNvSpPr txBox="1"/>
          <p:nvPr/>
        </p:nvSpPr>
        <p:spPr>
          <a:xfrm>
            <a:off x="8705088" y="1865376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Navigation par modules; mode SETUP signalé.</a:t>
            </a:r>
            <a:endParaRPr lang="fr-FR" sz="800"/>
          </a:p>
        </p:txBody>
      </p:sp>
      <p:sp>
        <p:nvSpPr>
          <p:cNvPr id="22" name="Panneau"/>
          <p:cNvSpPr/>
          <p:nvPr/>
        </p:nvSpPr>
        <p:spPr>
          <a:xfrm>
            <a:off x="640080" y="2587752"/>
            <a:ext cx="5376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3" name="Texte"/>
          <p:cNvSpPr txBox="1"/>
          <p:nvPr/>
        </p:nvSpPr>
        <p:spPr>
          <a:xfrm>
            <a:off x="813816" y="269748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03 · COMMANDE</a:t>
            </a:r>
            <a:endParaRPr lang="fr-FR" sz="800"/>
          </a:p>
        </p:txBody>
      </p:sp>
      <p:sp>
        <p:nvSpPr>
          <p:cNvPr id="24" name="Texte"/>
          <p:cNvSpPr txBox="1"/>
          <p:nvPr/>
        </p:nvSpPr>
        <p:spPr>
          <a:xfrm>
            <a:off x="813816" y="29260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Propulsion &amp; direction</a:t>
            </a:r>
            <a:endParaRPr lang="fr-FR" sz="1100"/>
          </a:p>
        </p:txBody>
      </p:sp>
      <p:sp>
        <p:nvSpPr>
          <p:cNvPr id="25" name="Texte"/>
          <p:cNvSpPr txBox="1"/>
          <p:nvPr/>
        </p:nvSpPr>
        <p:spPr>
          <a:xfrm>
            <a:off x="3081528" y="2871216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Joystick graphique 3D et curseurs synchronisés.</a:t>
            </a:r>
            <a:endParaRPr lang="fr-FR" sz="800"/>
          </a:p>
        </p:txBody>
      </p:sp>
      <p:sp>
        <p:nvSpPr>
          <p:cNvPr id="26" name="Panneau"/>
          <p:cNvSpPr/>
          <p:nvPr/>
        </p:nvSpPr>
        <p:spPr>
          <a:xfrm>
            <a:off x="6263640" y="2587752"/>
            <a:ext cx="5376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7" name="Texte"/>
          <p:cNvSpPr txBox="1"/>
          <p:nvPr/>
        </p:nvSpPr>
        <p:spPr>
          <a:xfrm>
            <a:off x="6437376" y="269748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04 · COMMANDE</a:t>
            </a:r>
            <a:endParaRPr lang="fr-FR" sz="800"/>
          </a:p>
        </p:txBody>
      </p:sp>
      <p:sp>
        <p:nvSpPr>
          <p:cNvPr id="28" name="Texte"/>
          <p:cNvSpPr txBox="1"/>
          <p:nvPr/>
        </p:nvSpPr>
        <p:spPr>
          <a:xfrm>
            <a:off x="6437376" y="29260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Tourelle 100 mm</a:t>
            </a:r>
            <a:endParaRPr lang="fr-FR" sz="1100"/>
          </a:p>
        </p:txBody>
      </p:sp>
      <p:sp>
        <p:nvSpPr>
          <p:cNvPr id="29" name="Texte"/>
          <p:cNvSpPr txBox="1"/>
          <p:nvPr/>
        </p:nvSpPr>
        <p:spPr>
          <a:xfrm>
            <a:off x="8705088" y="2871216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Curseurs d'azimut et d'élévation.</a:t>
            </a:r>
            <a:endParaRPr lang="fr-FR" sz="800"/>
          </a:p>
        </p:txBody>
      </p:sp>
      <p:sp>
        <p:nvSpPr>
          <p:cNvPr id="30" name="Panneau"/>
          <p:cNvSpPr/>
          <p:nvPr/>
        </p:nvSpPr>
        <p:spPr>
          <a:xfrm>
            <a:off x="640080" y="3593592"/>
            <a:ext cx="5376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1" name="Texte"/>
          <p:cNvSpPr txBox="1"/>
          <p:nvPr/>
        </p:nvSpPr>
        <p:spPr>
          <a:xfrm>
            <a:off x="813816" y="37033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05 · MESURES</a:t>
            </a:r>
            <a:endParaRPr lang="fr-FR" sz="800"/>
          </a:p>
        </p:txBody>
      </p:sp>
      <p:sp>
        <p:nvSpPr>
          <p:cNvPr id="32" name="Texte"/>
          <p:cNvSpPr txBox="1"/>
          <p:nvPr/>
        </p:nvSpPr>
        <p:spPr>
          <a:xfrm>
            <a:off x="813816" y="39319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Instruments</a:t>
            </a:r>
            <a:endParaRPr lang="fr-FR" sz="1100"/>
          </a:p>
        </p:txBody>
      </p:sp>
      <p:sp>
        <p:nvSpPr>
          <p:cNvPr id="33" name="Texte"/>
          <p:cNvSpPr txBox="1"/>
          <p:nvPr/>
        </p:nvSpPr>
        <p:spPr>
          <a:xfrm>
            <a:off x="3081528" y="3877056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Cinq indicateurs de démonstration, sans télémétrie.</a:t>
            </a:r>
            <a:endParaRPr lang="fr-FR" sz="800"/>
          </a:p>
        </p:txBody>
      </p:sp>
      <p:sp>
        <p:nvSpPr>
          <p:cNvPr id="34" name="Panneau"/>
          <p:cNvSpPr/>
          <p:nvPr/>
        </p:nvSpPr>
        <p:spPr>
          <a:xfrm>
            <a:off x="6263640" y="3593592"/>
            <a:ext cx="5376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5" name="Texte"/>
          <p:cNvSpPr txBox="1"/>
          <p:nvPr/>
        </p:nvSpPr>
        <p:spPr>
          <a:xfrm>
            <a:off x="6437376" y="37033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06 · ÉQUIPEMENTS</a:t>
            </a:r>
            <a:endParaRPr lang="fr-FR" sz="800"/>
          </a:p>
        </p:txBody>
      </p:sp>
      <p:sp>
        <p:nvSpPr>
          <p:cNvPr id="36" name="Texte"/>
          <p:cNvSpPr txBox="1"/>
          <p:nvPr/>
        </p:nvSpPr>
        <p:spPr>
          <a:xfrm>
            <a:off x="6437376" y="39319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Sons &amp; lumières</a:t>
            </a:r>
            <a:endParaRPr lang="fr-FR" sz="1100"/>
          </a:p>
        </p:txBody>
      </p:sp>
      <p:sp>
        <p:nvSpPr>
          <p:cNvPr id="37" name="Texte"/>
          <p:cNvSpPr txBox="1"/>
          <p:nvPr/>
        </p:nvSpPr>
        <p:spPr>
          <a:xfrm>
            <a:off x="8705088" y="3877056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Écran présent; commandes non disponibles.</a:t>
            </a:r>
            <a:endParaRPr lang="fr-FR" sz="800"/>
          </a:p>
        </p:txBody>
      </p:sp>
      <p:sp>
        <p:nvSpPr>
          <p:cNvPr id="38" name="Panneau"/>
          <p:cNvSpPr/>
          <p:nvPr/>
        </p:nvSpPr>
        <p:spPr>
          <a:xfrm>
            <a:off x="640080" y="4599432"/>
            <a:ext cx="5376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39" name="Texte"/>
          <p:cNvSpPr txBox="1"/>
          <p:nvPr/>
        </p:nvSpPr>
        <p:spPr>
          <a:xfrm>
            <a:off x="813816" y="47091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07 · TECHNIQUE</a:t>
            </a:r>
            <a:endParaRPr lang="fr-FR" sz="800"/>
          </a:p>
        </p:txBody>
      </p:sp>
      <p:sp>
        <p:nvSpPr>
          <p:cNvPr id="40" name="Texte"/>
          <p:cNvSpPr txBox="1"/>
          <p:nvPr/>
        </p:nvSpPr>
        <p:spPr>
          <a:xfrm>
            <a:off x="813816" y="493776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Diagnostic</a:t>
            </a:r>
            <a:endParaRPr lang="fr-FR" sz="1100"/>
          </a:p>
        </p:txBody>
      </p:sp>
      <p:sp>
        <p:nvSpPr>
          <p:cNvPr id="41" name="Texte"/>
          <p:cNvSpPr txBox="1"/>
          <p:nvPr/>
        </p:nvSpPr>
        <p:spPr>
          <a:xfrm>
            <a:off x="3081528" y="4882896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Envoi de trames brutes et historique local.</a:t>
            </a:r>
            <a:endParaRPr lang="fr-FR" sz="800"/>
          </a:p>
        </p:txBody>
      </p:sp>
      <p:sp>
        <p:nvSpPr>
          <p:cNvPr id="42" name="Panneau"/>
          <p:cNvSpPr/>
          <p:nvPr/>
        </p:nvSpPr>
        <p:spPr>
          <a:xfrm>
            <a:off x="640080" y="5330952"/>
            <a:ext cx="10908792" cy="704088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F0D4A6"/>
            </a:solidFill>
          </a:ln>
        </p:spPr>
      </p:sp>
      <p:sp>
        <p:nvSpPr>
          <p:cNvPr id="43" name="Texte"/>
          <p:cNvSpPr txBox="1"/>
          <p:nvPr/>
        </p:nvSpPr>
        <p:spPr>
          <a:xfrm>
            <a:off x="868680" y="5513832"/>
            <a:ext cx="1045159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1">
                <a:solidFill>
                  <a:srgbClr val="795016"/>
                </a:solidFill>
                <a:latin typeface="Aptos"/>
                <a:ea typeface="Aptos"/>
                <a:cs typeface="Aptos"/>
              </a:rPr>
              <a:t xml:space="preserve">Le témoin WebSocket confirme la connexion, pas la bonne exécution mécanique. Sons/lumières et authentification restent à implémenter.</a:t>
            </a:r>
            <a:endParaRPr lang="fr-F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EXPLOITATION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Déploiement &amp; mise en service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10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11000232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Forme"/>
          <p:cNvSpPr/>
          <p:nvPr/>
        </p:nvSpPr>
        <p:spPr>
          <a:xfrm>
            <a:off x="804672" y="1764792"/>
            <a:ext cx="438912" cy="438912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5" name="Texte"/>
          <p:cNvSpPr txBox="1"/>
          <p:nvPr/>
        </p:nvSpPr>
        <p:spPr>
          <a:xfrm>
            <a:off x="804672" y="1764792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01</a:t>
            </a:r>
            <a:endParaRPr lang="fr-FR" sz="900"/>
          </a:p>
        </p:txBody>
      </p:sp>
      <p:sp>
        <p:nvSpPr>
          <p:cNvPr id="16" name="Ligne"/>
          <p:cNvSpPr/>
          <p:nvPr/>
        </p:nvSpPr>
        <p:spPr>
          <a:xfrm>
            <a:off x="1014984" y="2221992"/>
            <a:ext cx="22860" cy="301752"/>
          </a:xfrm>
          <a:prstGeom prst="rect">
            <a:avLst/>
          </a:prstGeom>
          <a:solidFill>
            <a:srgbClr val="B9CAD8"/>
          </a:solidFill>
          <a:ln>
            <a:noFill/>
          </a:ln>
        </p:spPr>
      </p:sp>
      <p:sp>
        <p:nvSpPr>
          <p:cNvPr id="17" name="Texte"/>
          <p:cNvSpPr txBox="1"/>
          <p:nvPr/>
        </p:nvSpPr>
        <p:spPr>
          <a:xfrm>
            <a:off x="1481328" y="1737360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Compiler</a:t>
            </a:r>
            <a:endParaRPr lang="fr-FR" sz="1300"/>
          </a:p>
        </p:txBody>
      </p:sp>
      <p:sp>
        <p:nvSpPr>
          <p:cNvPr id="18" name="Texte"/>
          <p:cNvSpPr txBox="1"/>
          <p:nvPr/>
        </p:nvSpPr>
        <p:spPr>
          <a:xfrm>
            <a:off x="3794760" y="1728216"/>
            <a:ext cx="615391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Module propulsion et tourelle avec l'AVR et CassardControl.</a:t>
            </a:r>
            <a:endParaRPr lang="fr-FR" sz="1000"/>
          </a:p>
        </p:txBody>
      </p:sp>
      <p:sp>
        <p:nvSpPr>
          <p:cNvPr id="19" name="Forme"/>
          <p:cNvSpPr/>
          <p:nvPr/>
        </p:nvSpPr>
        <p:spPr>
          <a:xfrm>
            <a:off x="804672" y="2560320"/>
            <a:ext cx="438912" cy="438912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20" name="Texte"/>
          <p:cNvSpPr txBox="1"/>
          <p:nvPr/>
        </p:nvSpPr>
        <p:spPr>
          <a:xfrm>
            <a:off x="804672" y="2560320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02</a:t>
            </a:r>
            <a:endParaRPr lang="fr-FR" sz="900"/>
          </a:p>
        </p:txBody>
      </p:sp>
      <p:sp>
        <p:nvSpPr>
          <p:cNvPr id="21" name="Ligne"/>
          <p:cNvSpPr/>
          <p:nvPr/>
        </p:nvSpPr>
        <p:spPr>
          <a:xfrm>
            <a:off x="1014984" y="3017520"/>
            <a:ext cx="22860" cy="301752"/>
          </a:xfrm>
          <a:prstGeom prst="rect">
            <a:avLst/>
          </a:prstGeom>
          <a:solidFill>
            <a:srgbClr val="B9CAD8"/>
          </a:solidFill>
          <a:ln>
            <a:noFill/>
          </a:ln>
        </p:spPr>
      </p:sp>
      <p:sp>
        <p:nvSpPr>
          <p:cNvPr id="22" name="Texte"/>
          <p:cNvSpPr txBox="1"/>
          <p:nvPr/>
        </p:nvSpPr>
        <p:spPr>
          <a:xfrm>
            <a:off x="1481328" y="2532888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Installer le central</a:t>
            </a:r>
            <a:endParaRPr lang="fr-FR" sz="1300"/>
          </a:p>
        </p:txBody>
      </p:sp>
      <p:sp>
        <p:nvSpPr>
          <p:cNvPr id="23" name="Texte"/>
          <p:cNvSpPr txBox="1"/>
          <p:nvPr/>
        </p:nvSpPr>
        <p:spPr>
          <a:xfrm>
            <a:off x="3794760" y="2523744"/>
            <a:ext cx="615391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Compiler pour la carte PHPoC installée; fournir la bibliothèque fabricant.</a:t>
            </a:r>
            <a:endParaRPr lang="fr-FR" sz="1000"/>
          </a:p>
        </p:txBody>
      </p:sp>
      <p:sp>
        <p:nvSpPr>
          <p:cNvPr id="24" name="Forme"/>
          <p:cNvSpPr/>
          <p:nvPr/>
        </p:nvSpPr>
        <p:spPr>
          <a:xfrm>
            <a:off x="804672" y="3355848"/>
            <a:ext cx="438912" cy="438912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25" name="Texte"/>
          <p:cNvSpPr txBox="1"/>
          <p:nvPr/>
        </p:nvSpPr>
        <p:spPr>
          <a:xfrm>
            <a:off x="804672" y="335584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03</a:t>
            </a:r>
            <a:endParaRPr lang="fr-FR" sz="900"/>
          </a:p>
        </p:txBody>
      </p:sp>
      <p:sp>
        <p:nvSpPr>
          <p:cNvPr id="26" name="Ligne"/>
          <p:cNvSpPr/>
          <p:nvPr/>
        </p:nvSpPr>
        <p:spPr>
          <a:xfrm>
            <a:off x="1014984" y="3813048"/>
            <a:ext cx="22860" cy="301752"/>
          </a:xfrm>
          <a:prstGeom prst="rect">
            <a:avLst/>
          </a:prstGeom>
          <a:solidFill>
            <a:srgbClr val="B9CAD8"/>
          </a:solidFill>
          <a:ln>
            <a:noFill/>
          </a:ln>
        </p:spPr>
      </p:sp>
      <p:sp>
        <p:nvSpPr>
          <p:cNvPr id="27" name="Texte"/>
          <p:cNvSpPr txBox="1"/>
          <p:nvPr/>
        </p:nvSpPr>
        <p:spPr>
          <a:xfrm>
            <a:off x="1481328" y="3328416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Déployer l’interface</a:t>
            </a:r>
            <a:endParaRPr lang="fr-FR" sz="1300"/>
          </a:p>
        </p:txBody>
      </p:sp>
      <p:sp>
        <p:nvSpPr>
          <p:cNvPr id="28" name="Texte"/>
          <p:cNvSpPr txBox="1"/>
          <p:nvPr/>
        </p:nvSpPr>
        <p:spPr>
          <a:xfrm>
            <a:off x="3794760" y="3319272"/>
            <a:ext cx="615391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Copier ModuleCentral/web sur le serveur web du module.</a:t>
            </a:r>
            <a:endParaRPr lang="fr-FR" sz="1000"/>
          </a:p>
        </p:txBody>
      </p:sp>
      <p:sp>
        <p:nvSpPr>
          <p:cNvPr id="29" name="Forme"/>
          <p:cNvSpPr/>
          <p:nvPr/>
        </p:nvSpPr>
        <p:spPr>
          <a:xfrm>
            <a:off x="804672" y="4151376"/>
            <a:ext cx="438912" cy="438912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30" name="Texte"/>
          <p:cNvSpPr txBox="1"/>
          <p:nvPr/>
        </p:nvSpPr>
        <p:spPr>
          <a:xfrm>
            <a:off x="804672" y="4151376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04</a:t>
            </a:r>
            <a:endParaRPr lang="fr-FR" sz="900"/>
          </a:p>
        </p:txBody>
      </p:sp>
      <p:sp>
        <p:nvSpPr>
          <p:cNvPr id="31" name="Ligne"/>
          <p:cNvSpPr/>
          <p:nvPr/>
        </p:nvSpPr>
        <p:spPr>
          <a:xfrm>
            <a:off x="1014984" y="4608576"/>
            <a:ext cx="22860" cy="301752"/>
          </a:xfrm>
          <a:prstGeom prst="rect">
            <a:avLst/>
          </a:prstGeom>
          <a:solidFill>
            <a:srgbClr val="B9CAD8"/>
          </a:solidFill>
          <a:ln>
            <a:noFill/>
          </a:ln>
        </p:spPr>
      </p:sp>
      <p:sp>
        <p:nvSpPr>
          <p:cNvPr id="32" name="Texte"/>
          <p:cNvSpPr txBox="1"/>
          <p:nvPr/>
        </p:nvSpPr>
        <p:spPr>
          <a:xfrm>
            <a:off x="1481328" y="4123944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Vérifier le bus</a:t>
            </a:r>
            <a:endParaRPr lang="fr-FR" sz="1300"/>
          </a:p>
        </p:txBody>
      </p:sp>
      <p:sp>
        <p:nvSpPr>
          <p:cNvPr id="33" name="Texte"/>
          <p:cNvSpPr txBox="1"/>
          <p:nvPr/>
        </p:nvSpPr>
        <p:spPr>
          <a:xfrm>
            <a:off x="3794760" y="4114800"/>
            <a:ext cx="615391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Contrôler adresses I²C 1/2, masses, SDA/SCL et alimentation.</a:t>
            </a:r>
            <a:endParaRPr lang="fr-FR" sz="1000"/>
          </a:p>
        </p:txBody>
      </p:sp>
      <p:sp>
        <p:nvSpPr>
          <p:cNvPr id="34" name="Forme"/>
          <p:cNvSpPr/>
          <p:nvPr/>
        </p:nvSpPr>
        <p:spPr>
          <a:xfrm>
            <a:off x="804672" y="4946904"/>
            <a:ext cx="438912" cy="438912"/>
          </a:xfrm>
          <a:prstGeom prst="roundRect">
            <a:avLst/>
          </a:prstGeom>
          <a:solidFill>
            <a:srgbClr val="23835B"/>
          </a:solidFill>
          <a:ln>
            <a:noFill/>
          </a:ln>
        </p:spPr>
      </p:sp>
      <p:sp>
        <p:nvSpPr>
          <p:cNvPr id="35" name="Texte"/>
          <p:cNvSpPr txBox="1"/>
          <p:nvPr/>
        </p:nvSpPr>
        <p:spPr>
          <a:xfrm>
            <a:off x="804672" y="4946904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05</a:t>
            </a:r>
            <a:endParaRPr lang="fr-FR" sz="900"/>
          </a:p>
        </p:txBody>
      </p:sp>
      <p:sp>
        <p:nvSpPr>
          <p:cNvPr id="36" name="Texte"/>
          <p:cNvSpPr txBox="1"/>
          <p:nvPr/>
        </p:nvSpPr>
        <p:spPr>
          <a:xfrm>
            <a:off x="1481328" y="4919472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Tester prudemment</a:t>
            </a:r>
            <a:endParaRPr lang="fr-FR" sz="1300"/>
          </a:p>
        </p:txBody>
      </p:sp>
      <p:sp>
        <p:nvSpPr>
          <p:cNvPr id="37" name="Texte"/>
          <p:cNvSpPr txBox="1"/>
          <p:nvPr/>
        </p:nvSpPr>
        <p:spPr>
          <a:xfrm>
            <a:off x="3794760" y="4910328"/>
            <a:ext cx="615391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Connexion WebSocket, axes à faible consigne, sans charge mécanique.</a:t>
            </a:r>
            <a:endParaRPr lang="fr-FR" sz="1000"/>
          </a:p>
        </p:txBody>
      </p:sp>
      <p:sp>
        <p:nvSpPr>
          <p:cNvPr id="38" name="Panneau"/>
          <p:cNvSpPr/>
          <p:nvPr/>
        </p:nvSpPr>
        <p:spPr>
          <a:xfrm>
            <a:off x="640080" y="5715000"/>
            <a:ext cx="10899648" cy="493776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F0D4A6"/>
            </a:solidFill>
          </a:ln>
        </p:spPr>
      </p:sp>
      <p:sp>
        <p:nvSpPr>
          <p:cNvPr id="39" name="Texte"/>
          <p:cNvSpPr txBox="1"/>
          <p:nvPr/>
        </p:nvSpPr>
        <p:spPr>
          <a:xfrm>
            <a:off x="850392" y="5852160"/>
            <a:ext cx="10424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795016"/>
                </a:solidFill>
                <a:latin typeface="Aptos"/>
                <a:ea typeface="Aptos"/>
                <a:cs typeface="Aptos"/>
              </a:rPr>
              <a:t xml:space="preserve">Confirmer les butées, le sens des servos et l'absence d'interférence avec le mécanisme avant toute commande en charge.</a:t>
            </a:r>
            <a:endParaRPr lang="fr-FR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3335000" cy="7500000"/>
        </a:xfrm>
      </p:grpSpPr>
      <p:sp>
        <p:nvSpPr>
          <p:cNvPr id="2" name="Fo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</p:sp>
      <p:sp>
        <p:nvSpPr>
          <p:cNvPr id="3" name="Bandeau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Marque"/>
          <p:cNvSpPr/>
          <p:nvPr/>
        </p:nvSpPr>
        <p:spPr>
          <a:xfrm>
            <a:off x="420624" y="173736"/>
            <a:ext cx="384048" cy="384048"/>
          </a:xfrm>
          <a:prstGeom prst="roundRect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5" name="Texte"/>
          <p:cNvSpPr txBox="1"/>
          <p:nvPr/>
        </p:nvSpPr>
        <p:spPr>
          <a:xfrm>
            <a:off x="420624" y="17373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 marL="0" indent="0"/>
            <a:r>
              <a:rPr lang="fr-FR" sz="17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fr-FR" sz="1700"/>
          </a:p>
        </p:txBody>
      </p:sp>
      <p:sp>
        <p:nvSpPr>
          <p:cNvPr id="6" name="Texte"/>
          <p:cNvSpPr txBox="1"/>
          <p:nvPr/>
        </p:nvSpPr>
        <p:spPr>
          <a:xfrm>
            <a:off x="914400" y="182880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CASSARD</a:t>
            </a:r>
            <a:endParaRPr lang="fr-FR" sz="1100"/>
          </a:p>
        </p:txBody>
      </p:sp>
      <p:sp>
        <p:nvSpPr>
          <p:cNvPr id="7" name="Texte"/>
          <p:cNvSpPr txBox="1"/>
          <p:nvPr/>
        </p:nvSpPr>
        <p:spPr>
          <a:xfrm>
            <a:off x="914400" y="3840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B9C9DA"/>
                </a:solidFill>
                <a:latin typeface="Aptos"/>
                <a:ea typeface="Aptos"/>
                <a:cs typeface="Aptos"/>
              </a:rPr>
              <a:t xml:space="preserve">SYSTÈME DE PILOTAGE</a:t>
            </a:r>
            <a:endParaRPr lang="fr-FR" sz="700"/>
          </a:p>
        </p:txBody>
      </p:sp>
      <p:sp>
        <p:nvSpPr>
          <p:cNvPr id="8" name="Texte"/>
          <p:cNvSpPr txBox="1"/>
          <p:nvPr/>
        </p:nvSpPr>
        <p:spPr>
          <a:xfrm>
            <a:off x="9601200" y="2468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D7E1ED"/>
                </a:solidFill>
                <a:latin typeface="Aptos"/>
                <a:ea typeface="Aptos"/>
                <a:cs typeface="Aptos"/>
              </a:rPr>
              <a:t xml:space="preserve">SYNTHÈSE</a:t>
            </a:r>
            <a:endParaRPr lang="fr-FR" sz="800"/>
          </a:p>
        </p:txBody>
      </p:sp>
      <p:sp>
        <p:nvSpPr>
          <p:cNvPr id="9" name="Texte"/>
          <p:cNvSpPr txBox="1"/>
          <p:nvPr/>
        </p:nvSpPr>
        <p:spPr>
          <a:xfrm>
            <a:off x="594360" y="950976"/>
            <a:ext cx="85039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2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 xml:space="preserve">État actuel &amp; limites connues</a:t>
            </a:r>
            <a:endParaRPr lang="fr-FR" sz="2500"/>
          </a:p>
        </p:txBody>
      </p:sp>
      <p:sp>
        <p:nvSpPr>
          <p:cNvPr id="10" name="Forme"/>
          <p:cNvSpPr/>
          <p:nvPr/>
        </p:nvSpPr>
        <p:spPr>
          <a:xfrm>
            <a:off x="594360" y="6455664"/>
            <a:ext cx="11000232" cy="10973"/>
          </a:xfrm>
          <a:prstGeom prst="rect">
            <a:avLst/>
          </a:prstGeom>
          <a:solidFill>
            <a:srgbClr val="E1E8EF"/>
          </a:solidFill>
          <a:ln>
            <a:noFill/>
          </a:ln>
        </p:spPr>
      </p:sp>
      <p:sp>
        <p:nvSpPr>
          <p:cNvPr id="11" name="Texte"/>
          <p:cNvSpPr txBox="1"/>
          <p:nvPr/>
        </p:nvSpPr>
        <p:spPr>
          <a:xfrm>
            <a:off x="612648" y="6528816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7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CASSARD  ·  PILOTAGE EMBARQUÉ  ·  OCTOBRE 2026</a:t>
            </a:r>
            <a:endParaRPr lang="fr-FR" sz="700"/>
          </a:p>
        </p:txBody>
      </p:sp>
      <p:sp>
        <p:nvSpPr>
          <p:cNvPr id="12" name="Texte"/>
          <p:cNvSpPr txBox="1"/>
          <p:nvPr/>
        </p:nvSpPr>
        <p:spPr>
          <a:xfrm>
            <a:off x="10972800" y="651967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r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11</a:t>
            </a:r>
            <a:endParaRPr lang="fr-FR" sz="800"/>
          </a:p>
        </p:txBody>
      </p:sp>
      <p:sp>
        <p:nvSpPr>
          <p:cNvPr id="13" name="Forme"/>
          <p:cNvSpPr/>
          <p:nvPr/>
        </p:nvSpPr>
        <p:spPr>
          <a:xfrm>
            <a:off x="594360" y="6432804"/>
            <a:ext cx="12100255" cy="32004"/>
          </a:xfrm>
          <a:prstGeom prst="roundRect">
            <a:avLst/>
          </a:prstGeom>
          <a:solidFill>
            <a:srgbClr val="2474A6"/>
          </a:solidFill>
          <a:ln>
            <a:noFill/>
          </a:ln>
        </p:spPr>
      </p:sp>
      <p:sp>
        <p:nvSpPr>
          <p:cNvPr id="14" name="Panneau"/>
          <p:cNvSpPr/>
          <p:nvPr/>
        </p:nvSpPr>
        <p:spPr>
          <a:xfrm>
            <a:off x="658368" y="1691640"/>
            <a:ext cx="5138928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5" name="Texte"/>
          <p:cNvSpPr txBox="1"/>
          <p:nvPr/>
        </p:nvSpPr>
        <p:spPr>
          <a:xfrm>
            <a:off x="877824" y="181051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INTERFACE</a:t>
            </a:r>
            <a:endParaRPr lang="fr-FR" sz="800"/>
          </a:p>
        </p:txBody>
      </p:sp>
      <p:sp>
        <p:nvSpPr>
          <p:cNvPr id="16" name="Texte"/>
          <p:cNvSpPr txBox="1"/>
          <p:nvPr/>
        </p:nvSpPr>
        <p:spPr>
          <a:xfrm>
            <a:off x="877824" y="2048256"/>
            <a:ext cx="4572000" cy="3383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Joystick graphique 3D central; curseur de poussée en bas; direction à droite; affichage responsive.</a:t>
            </a:r>
            <a:endParaRPr lang="fr-FR" sz="900"/>
          </a:p>
        </p:txBody>
      </p:sp>
      <p:sp>
        <p:nvSpPr>
          <p:cNvPr id="17" name="Panneau"/>
          <p:cNvSpPr/>
          <p:nvPr/>
        </p:nvSpPr>
        <p:spPr>
          <a:xfrm>
            <a:off x="658368" y="2697480"/>
            <a:ext cx="5138928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18" name="Texte"/>
          <p:cNvSpPr txBox="1"/>
          <p:nvPr/>
        </p:nvSpPr>
        <p:spPr>
          <a:xfrm>
            <a:off x="877824" y="28163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COMMANDE</a:t>
            </a:r>
            <a:endParaRPr lang="fr-FR" sz="800"/>
          </a:p>
        </p:txBody>
      </p:sp>
      <p:sp>
        <p:nvSpPr>
          <p:cNvPr id="19" name="Texte"/>
          <p:cNvSpPr txBox="1"/>
          <p:nvPr/>
        </p:nvSpPr>
        <p:spPr>
          <a:xfrm>
            <a:off x="877824" y="3054096"/>
            <a:ext cx="4572000" cy="3383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Moteurs, gouvernail et deux axes de tourelle pilotés par WebSocket et I²C.</a:t>
            </a:r>
            <a:endParaRPr lang="fr-FR" sz="900"/>
          </a:p>
        </p:txBody>
      </p:sp>
      <p:sp>
        <p:nvSpPr>
          <p:cNvPr id="20" name="Panneau"/>
          <p:cNvSpPr/>
          <p:nvPr/>
        </p:nvSpPr>
        <p:spPr>
          <a:xfrm>
            <a:off x="658368" y="3703320"/>
            <a:ext cx="5138928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</a:ln>
        </p:spPr>
      </p:sp>
      <p:sp>
        <p:nvSpPr>
          <p:cNvPr id="21" name="Texte"/>
          <p:cNvSpPr txBox="1"/>
          <p:nvPr/>
        </p:nvSpPr>
        <p:spPr>
          <a:xfrm>
            <a:off x="877824" y="382219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SÉCURITÉ LOGICIELLE</a:t>
            </a:r>
            <a:endParaRPr lang="fr-FR" sz="800"/>
          </a:p>
        </p:txBody>
      </p:sp>
      <p:sp>
        <p:nvSpPr>
          <p:cNvPr id="22" name="Texte"/>
          <p:cNvSpPr txBox="1"/>
          <p:nvPr/>
        </p:nvSpPr>
        <p:spPr>
          <a:xfrm>
            <a:off x="877824" y="4059936"/>
            <a:ext cx="4572000" cy="3383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0">
                <a:solidFill>
                  <a:srgbClr val="18283B"/>
                </a:solidFill>
                <a:latin typeface="Aptos"/>
                <a:ea typeface="Aptos"/>
                <a:cs typeface="Aptos"/>
              </a:rPr>
              <a:t xml:space="preserve">À l'arrêt du joystick, trame arrêt moteur et recentrage direction.</a:t>
            </a:r>
            <a:endParaRPr lang="fr-FR" sz="900"/>
          </a:p>
        </p:txBody>
      </p:sp>
      <p:sp>
        <p:nvSpPr>
          <p:cNvPr id="23" name="Panneau"/>
          <p:cNvSpPr/>
          <p:nvPr/>
        </p:nvSpPr>
        <p:spPr>
          <a:xfrm>
            <a:off x="6117336" y="1691640"/>
            <a:ext cx="5376672" cy="376732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0233F"/>
            </a:solidFill>
          </a:ln>
        </p:spPr>
      </p:sp>
      <p:sp>
        <p:nvSpPr>
          <p:cNvPr id="24" name="Texte"/>
          <p:cNvSpPr txBox="1"/>
          <p:nvPr/>
        </p:nvSpPr>
        <p:spPr>
          <a:xfrm>
            <a:off x="6400800" y="1956816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800" b="1">
                <a:solidFill>
                  <a:srgbClr val="E6A744"/>
                </a:solidFill>
                <a:latin typeface="Aptos"/>
                <a:ea typeface="Aptos"/>
                <a:cs typeface="Aptos"/>
              </a:rPr>
              <a:t xml:space="preserve">POINTS À TRAITER</a:t>
            </a:r>
            <a:endParaRPr lang="fr-FR" sz="800"/>
          </a:p>
        </p:txBody>
      </p:sp>
      <p:sp>
        <p:nvSpPr>
          <p:cNvPr id="25" name="Forme"/>
          <p:cNvSpPr/>
          <p:nvPr/>
        </p:nvSpPr>
        <p:spPr>
          <a:xfrm>
            <a:off x="6428232" y="2414016"/>
            <a:ext cx="64008" cy="64008"/>
          </a:xfrm>
          <a:prstGeom prst="ellipse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26" name="Texte"/>
          <p:cNvSpPr txBox="1"/>
          <p:nvPr/>
        </p:nvSpPr>
        <p:spPr>
          <a:xfrm>
            <a:off x="6629400" y="2350008"/>
            <a:ext cx="4507992" cy="4297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Le formulaire de connexion n’authentifie pas encore l’utilisateur.</a:t>
            </a:r>
            <a:endParaRPr lang="fr-FR" sz="1000"/>
          </a:p>
        </p:txBody>
      </p:sp>
      <p:sp>
        <p:nvSpPr>
          <p:cNvPr id="27" name="Forme"/>
          <p:cNvSpPr/>
          <p:nvPr/>
        </p:nvSpPr>
        <p:spPr>
          <a:xfrm>
            <a:off x="6428232" y="2953512"/>
            <a:ext cx="64008" cy="64008"/>
          </a:xfrm>
          <a:prstGeom prst="ellipse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28" name="Texte"/>
          <p:cNvSpPr txBox="1"/>
          <p:nvPr/>
        </p:nvSpPr>
        <p:spPr>
          <a:xfrm>
            <a:off x="6629400" y="2889504"/>
            <a:ext cx="4507992" cy="4297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Aucun retour télémétrique ni accusé I²C n’atteint les écrans.</a:t>
            </a:r>
            <a:endParaRPr lang="fr-FR" sz="1000"/>
          </a:p>
        </p:txBody>
      </p:sp>
      <p:sp>
        <p:nvSpPr>
          <p:cNvPr id="29" name="Forme"/>
          <p:cNvSpPr/>
          <p:nvPr/>
        </p:nvSpPr>
        <p:spPr>
          <a:xfrm>
            <a:off x="6428232" y="3493008"/>
            <a:ext cx="64008" cy="64008"/>
          </a:xfrm>
          <a:prstGeom prst="ellipse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30" name="Texte"/>
          <p:cNvSpPr txBox="1"/>
          <p:nvPr/>
        </p:nvSpPr>
        <p:spPr>
          <a:xfrm>
            <a:off x="6629400" y="3429000"/>
            <a:ext cx="4507992" cy="4297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Les instruments montrent des valeurs de démonstration.</a:t>
            </a:r>
            <a:endParaRPr lang="fr-FR" sz="1000"/>
          </a:p>
        </p:txBody>
      </p:sp>
      <p:sp>
        <p:nvSpPr>
          <p:cNvPr id="31" name="Forme"/>
          <p:cNvSpPr/>
          <p:nvPr/>
        </p:nvSpPr>
        <p:spPr>
          <a:xfrm>
            <a:off x="6428232" y="4032504"/>
            <a:ext cx="64008" cy="64008"/>
          </a:xfrm>
          <a:prstGeom prst="ellipse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32" name="Texte"/>
          <p:cNvSpPr txBox="1"/>
          <p:nvPr/>
        </p:nvSpPr>
        <p:spPr>
          <a:xfrm>
            <a:off x="6629400" y="3968496"/>
            <a:ext cx="4507992" cy="4297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Les commandes de son et de fumée ne sont pas implémentées.</a:t>
            </a:r>
            <a:endParaRPr lang="fr-FR" sz="1000"/>
          </a:p>
        </p:txBody>
      </p:sp>
      <p:sp>
        <p:nvSpPr>
          <p:cNvPr id="33" name="Forme"/>
          <p:cNvSpPr/>
          <p:nvPr/>
        </p:nvSpPr>
        <p:spPr>
          <a:xfrm>
            <a:off x="6428232" y="4572000"/>
            <a:ext cx="64008" cy="64008"/>
          </a:xfrm>
          <a:prstGeom prst="ellipse">
            <a:avLst/>
          </a:prstGeom>
          <a:solidFill>
            <a:srgbClr val="E6A744"/>
          </a:solidFill>
          <a:ln>
            <a:noFill/>
          </a:ln>
        </p:spPr>
      </p:sp>
      <p:sp>
        <p:nvSpPr>
          <p:cNvPr id="34" name="Texte"/>
          <p:cNvSpPr txBox="1"/>
          <p:nvPr/>
        </p:nvSpPr>
        <p:spPr>
          <a:xfrm>
            <a:off x="6629400" y="4507992"/>
            <a:ext cx="4507992" cy="4297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1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Les butées logicielles et mécaniques doivent être confirmées.</a:t>
            </a:r>
            <a:endParaRPr lang="fr-FR" sz="1000"/>
          </a:p>
        </p:txBody>
      </p:sp>
      <p:sp>
        <p:nvSpPr>
          <p:cNvPr id="35" name="Panneau"/>
          <p:cNvSpPr/>
          <p:nvPr/>
        </p:nvSpPr>
        <p:spPr>
          <a:xfrm>
            <a:off x="658368" y="5102352"/>
            <a:ext cx="5138928" cy="71323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D5E5EF"/>
            </a:solidFill>
          </a:ln>
        </p:spPr>
      </p:sp>
      <p:sp>
        <p:nvSpPr>
          <p:cNvPr id="36" name="Texte"/>
          <p:cNvSpPr txBox="1"/>
          <p:nvPr/>
        </p:nvSpPr>
        <p:spPr>
          <a:xfrm>
            <a:off x="886968" y="528523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2474A6"/>
                </a:solidFill>
                <a:latin typeface="Aptos"/>
                <a:ea typeface="Aptos"/>
                <a:cs typeface="Aptos"/>
              </a:rPr>
              <a:t xml:space="preserve">Documentation détaillée : Pilotage/docs/interface-pilotage.md</a:t>
            </a:r>
            <a:endParaRPr lang="fr-FR" sz="900"/>
          </a:p>
        </p:txBody>
      </p:sp>
      <p:sp>
        <p:nvSpPr>
          <p:cNvPr id="37" name="Texte"/>
          <p:cNvSpPr txBox="1"/>
          <p:nvPr/>
        </p:nvSpPr>
        <p:spPr>
          <a:xfrm>
            <a:off x="658368" y="5934456"/>
            <a:ext cx="10149840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/>
          <a:lstStyle/>
          <a:p>
            <a:pPr algn="l" marL="0" indent="0"/>
            <a:r>
              <a:rPr lang="fr-FR" sz="9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 xml:space="preserve">Cette présentation décrit le comportement logiciel; valider l'ensemble sur le matériel réel avant exploitation.</a:t>
            </a:r>
            <a:endParaRPr lang="fr-FR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sard">
  <a:themeElements>
    <a:clrScheme name="Cassard">
      <a:dk1>
        <a:srgbClr val="10233F"/>
      </a:dk1>
      <a:lt1>
        <a:srgbClr val="FFFFFF"/>
      </a:lt1>
      <a:dk2>
        <a:srgbClr val="18283B"/>
      </a:dk2>
      <a:lt2>
        <a:srgbClr val="F3F6F9"/>
      </a:lt2>
      <a:accent1>
        <a:srgbClr val="2474A6"/>
      </a:accent1>
      <a:accent2>
        <a:srgbClr val="E6A744"/>
      </a:accent2>
      <a:accent3>
        <a:srgbClr val="19375C"/>
      </a:accent3>
      <a:accent4>
        <a:srgbClr val="23835B"/>
      </a:accent4>
      <a:accent5>
        <a:srgbClr val="718096"/>
      </a:accent5>
      <a:accent6>
        <a:srgbClr val="6AA4C7"/>
      </a:accent6>
      <a:hlink>
        <a:srgbClr val="2474A6"/>
      </a:hlink>
      <a:folHlink>
        <a:srgbClr val="7030A0"/>
      </a:folHlink>
    </a:clrScheme>
    <a:fontScheme name="Cassard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assard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11</Slides>
  <Company>Cassard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Dossier de commande — Cassard</dc:title>
  <dc:subject>Système de pilotage embarqué</dc:subject>
  <dc:creator>Documentation Cassard</dc:creator>
  <cp:keywords>pilotage; propulsion; tourelle; Arduino; PHPoC</cp:keywords>
  <dcterms:created xsi:type="dcterms:W3CDTF">2026-10-24T00:00:00Z</dcterms:created>
</cp:coreProperties>
</file>